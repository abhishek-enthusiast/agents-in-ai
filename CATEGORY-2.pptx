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bb2035d6e6497b" /><Relationship Type="http://schemas.openxmlformats.org/officeDocument/2006/relationships/extended-properties" Target="/docProps/app.xml" Id="Ra4011459be1a46bd" /><Relationship Type="http://schemas.openxmlformats.org/officeDocument/2006/relationships/officeDocument" Target="/ppt/presentation.xml" Id="R4c08c46be07949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9f2440f7bd464c"/>
  </p:sldMasterIdLst>
  <p:notesMasterIdLst>
    <p:notesMasterId xmlns:r="http://schemas.openxmlformats.org/officeDocument/2006/relationships" r:id="R40447c2a348140e5"/>
  </p:notesMasterIdLst>
  <p:sldIdLst>
    <p:sldId xmlns:r="http://schemas.openxmlformats.org/officeDocument/2006/relationships" id="256" r:id="R0b50d894afb14967"/>
    <p:sldId xmlns:r="http://schemas.openxmlformats.org/officeDocument/2006/relationships" id="257" r:id="R6c6737511b334ba8"/>
    <p:sldId xmlns:r="http://schemas.openxmlformats.org/officeDocument/2006/relationships" id="258" r:id="Rb4cc9d0841564f4c"/>
    <p:sldId xmlns:r="http://schemas.openxmlformats.org/officeDocument/2006/relationships" id="259" r:id="R60bf8c4ea6e440c5"/>
    <p:sldId xmlns:r="http://schemas.openxmlformats.org/officeDocument/2006/relationships" id="260" r:id="R38b0195320ca4d67"/>
    <p:sldId xmlns:r="http://schemas.openxmlformats.org/officeDocument/2006/relationships" id="261" r:id="R3d4475b4ef3c4ed6"/>
    <p:sldId xmlns:r="http://schemas.openxmlformats.org/officeDocument/2006/relationships" id="262" r:id="R92c65181c23c4132"/>
    <p:sldId xmlns:r="http://schemas.openxmlformats.org/officeDocument/2006/relationships" id="263" r:id="Rabad3f49d0e14fc2"/>
    <p:sldId xmlns:r="http://schemas.openxmlformats.org/officeDocument/2006/relationships" id="264" r:id="Ra744926999f647b8"/>
    <p:sldId xmlns:r="http://schemas.openxmlformats.org/officeDocument/2006/relationships" id="265" r:id="Ref34550ac89d4ae5"/>
    <p:sldId xmlns:r="http://schemas.openxmlformats.org/officeDocument/2006/relationships" id="266" r:id="Rd54fb18b4d834779"/>
    <p:sldId xmlns:r="http://schemas.openxmlformats.org/officeDocument/2006/relationships" id="267" r:id="R853af0cbc3c845bb"/>
    <p:sldId xmlns:r="http://schemas.openxmlformats.org/officeDocument/2006/relationships" id="268" r:id="Rbd887631ae584387"/>
    <p:sldId xmlns:r="http://schemas.openxmlformats.org/officeDocument/2006/relationships" id="269" r:id="R453f118a717d4520"/>
    <p:sldId xmlns:r="http://schemas.openxmlformats.org/officeDocument/2006/relationships" id="270" r:id="R098164a959b24d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8ec7573d474158" /><Relationship Type="http://schemas.openxmlformats.org/officeDocument/2006/relationships/slideMaster" Target="/ppt/slideMasters/slideMaster1.xml" Id="Rca9f2440f7bd464c" /><Relationship Type="http://schemas.openxmlformats.org/officeDocument/2006/relationships/notesMaster" Target="/ppt/notesMasters/notesMaster1.xml" Id="R40447c2a348140e5" /><Relationship Type="http://schemas.openxmlformats.org/officeDocument/2006/relationships/presProps" Target="/ppt/presProps.xml" Id="Rb4bf536640644561" /><Relationship Type="http://schemas.openxmlformats.org/officeDocument/2006/relationships/viewProps" Target="/ppt/viewProps.xml" Id="R1d43853ccd354e9d" /><Relationship Type="http://schemas.openxmlformats.org/officeDocument/2006/relationships/tableStyles" Target="/ppt/tableStyles.xml" Id="R5fbe14c10a3c4c5d" /><Relationship Type="http://schemas.openxmlformats.org/officeDocument/2006/relationships/slide" Target="/ppt/slides/slide1.xml" Id="R0b50d894afb14967" /><Relationship Type="http://schemas.openxmlformats.org/officeDocument/2006/relationships/slide" Target="/ppt/slides/slide2.xml" Id="R6c6737511b334ba8" /><Relationship Type="http://schemas.openxmlformats.org/officeDocument/2006/relationships/slide" Target="/ppt/slides/slide3.xml" Id="Rb4cc9d0841564f4c" /><Relationship Type="http://schemas.openxmlformats.org/officeDocument/2006/relationships/slide" Target="/ppt/slides/slide4.xml" Id="R60bf8c4ea6e440c5" /><Relationship Type="http://schemas.openxmlformats.org/officeDocument/2006/relationships/slide" Target="/ppt/slides/slide5.xml" Id="R38b0195320ca4d67" /><Relationship Type="http://schemas.openxmlformats.org/officeDocument/2006/relationships/slide" Target="/ppt/slides/slide6.xml" Id="R3d4475b4ef3c4ed6" /><Relationship Type="http://schemas.openxmlformats.org/officeDocument/2006/relationships/slide" Target="/ppt/slides/slide7.xml" Id="R92c65181c23c4132" /><Relationship Type="http://schemas.openxmlformats.org/officeDocument/2006/relationships/slide" Target="/ppt/slides/slide8.xml" Id="Rabad3f49d0e14fc2" /><Relationship Type="http://schemas.openxmlformats.org/officeDocument/2006/relationships/slide" Target="/ppt/slides/slide9.xml" Id="Ra744926999f647b8" /><Relationship Type="http://schemas.openxmlformats.org/officeDocument/2006/relationships/slide" Target="/ppt/slides/slide10.xml" Id="Ref34550ac89d4ae5" /><Relationship Type="http://schemas.openxmlformats.org/officeDocument/2006/relationships/slide" Target="/ppt/slides/slide11.xml" Id="Rd54fb18b4d834779" /><Relationship Type="http://schemas.openxmlformats.org/officeDocument/2006/relationships/slide" Target="/ppt/slides/slide12.xml" Id="R853af0cbc3c845bb" /><Relationship Type="http://schemas.openxmlformats.org/officeDocument/2006/relationships/slide" Target="/ppt/slides/slide13.xml" Id="Rbd887631ae584387" /><Relationship Type="http://schemas.openxmlformats.org/officeDocument/2006/relationships/slide" Target="/ppt/slides/slide14.xml" Id="R453f118a717d4520" /><Relationship Type="http://schemas.openxmlformats.org/officeDocument/2006/relationships/slide" Target="/ppt/slides/slide15.xml" Id="R098164a959b24d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579d85630b4e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2b80187bbb4348" /><Relationship Type="http://schemas.openxmlformats.org/officeDocument/2006/relationships/notesMaster" Target="/ppt/notesMasters/notesMaster1.xml" Id="R31f27b65784343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c17e809e5c4ba3" /><Relationship Type="http://schemas.openxmlformats.org/officeDocument/2006/relationships/notesMaster" Target="/ppt/notesMasters/notesMaster1.xml" Id="Rdb53660d558447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e24dc45cf94413" /><Relationship Type="http://schemas.openxmlformats.org/officeDocument/2006/relationships/notesMaster" Target="/ppt/notesMasters/notesMaster1.xml" Id="R713def250d6444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1b2f8a91594cd7" /><Relationship Type="http://schemas.openxmlformats.org/officeDocument/2006/relationships/notesMaster" Target="/ppt/notesMasters/notesMaster1.xml" Id="Rdc92f917c3d640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d31c1c8e1c4660" /><Relationship Type="http://schemas.openxmlformats.org/officeDocument/2006/relationships/notesMaster" Target="/ppt/notesMasters/notesMaster1.xml" Id="R98207e43001443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f00ec425a142d4" /><Relationship Type="http://schemas.openxmlformats.org/officeDocument/2006/relationships/notesMaster" Target="/ppt/notesMasters/notesMaster1.xml" Id="Re0891a2bca8b4d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2c57eaf5524bc6" /><Relationship Type="http://schemas.openxmlformats.org/officeDocument/2006/relationships/notesMaster" Target="/ppt/notesMasters/notesMaster1.xml" Id="R4bd7846e97fa4d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2460f6f0c44551" /><Relationship Type="http://schemas.openxmlformats.org/officeDocument/2006/relationships/notesMaster" Target="/ppt/notesMasters/notesMaster1.xml" Id="R7e84dbcf9ae44e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eb929d7ece4491" /><Relationship Type="http://schemas.openxmlformats.org/officeDocument/2006/relationships/notesMaster" Target="/ppt/notesMasters/notesMaster1.xml" Id="R653a99476fb541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df75e3a1bf423b" /><Relationship Type="http://schemas.openxmlformats.org/officeDocument/2006/relationships/notesMaster" Target="/ppt/notesMasters/notesMaster1.xml" Id="R90aeabb1978b4a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c89b12be1c4d6e" /><Relationship Type="http://schemas.openxmlformats.org/officeDocument/2006/relationships/notesMaster" Target="/ppt/notesMasters/notesMaster1.xml" Id="Ra5fee2c917ea45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151fba24df4428" /><Relationship Type="http://schemas.openxmlformats.org/officeDocument/2006/relationships/notesMaster" Target="/ppt/notesMasters/notesMaster1.xml" Id="Rc4c3f98f12384f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545236d2c545ed" /><Relationship Type="http://schemas.openxmlformats.org/officeDocument/2006/relationships/notesMaster" Target="/ppt/notesMasters/notesMaster1.xml" Id="Rdb6c4063d8a846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26c87f789394039" /><Relationship Type="http://schemas.openxmlformats.org/officeDocument/2006/relationships/notesMaster" Target="/ppt/notesMasters/notesMaster1.xml" Id="R3bef37a894944b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7e6e80d82444d5" /><Relationship Type="http://schemas.openxmlformats.org/officeDocument/2006/relationships/notesMaster" Target="/ppt/notesMasters/notesMaster1.xml" Id="R5a97b2713ca040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examples authored for this deck;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examples authored for this deck;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examples authored for this deck;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examples authored for this deck;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examples authored for this deck;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examples authored for this deck;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examples authored for this deck;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examples authored for this deck;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examples authored for this deck;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examples authored for this deck;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examples authored for this deck;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examples authored for this deck;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examples authored for this deck;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examples authored for this deck;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instructional examples authored for this deck; 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f43486cd143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27cde27e5242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dbfce7e2e24a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4983d01c474b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66d74f8b048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4fb20764b488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b76b5fcc40451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2f1ece4c24d4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395e2f0964b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9df79958e4ff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38eb71d774cf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4CD349-29FC-4049-AC61-820931B66A6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E43AB32-C10F-497A-A343-E9487AE3CD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7F0030E-1C81-4959-A19B-8C0DA57ECC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628399-FC88-4019-829A-DF175E04B8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39429F-BAF1-4D0E-9285-18D06B5787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66A589-B56B-4F64-9226-FFDBBD6394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7222C55-62F3-4181-AEC5-F715622D7A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96951A9-5CB9-4DE2-9D46-C990AE6FB2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1AFDC7-64D8-474B-B686-C58F942045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295750-14A9-4736-8E68-8F1971976E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0E9A0BA-B4C7-46F9-B9F5-E5CD16FD00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F57EDB-A8DF-4C6B-BF46-31AD6AC9FF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B234B87-360E-45BD-8F8A-9891D0BE11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6A4406-3249-4FE5-85D1-080B75D0A7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61937A-4C43-4E3B-B1F1-A15A7B40DC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FA7913-176E-44D8-9EC4-37129F607B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8CCC915-6578-4268-8288-CB21E53DB7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E1922AE-515B-4FC6-AC9E-0E05E31BE55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5E0DB45-81EA-416D-987D-50C4C67E4E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81F36BA-6591-4FA8-ADC5-CE6F7B5B94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8A6EF7-2976-4634-821D-D3B3B87677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CF4109-CF5D-4A7A-829E-7B734C5850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6768A49-082E-41F3-AE0B-CF4D9D57BD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51B3488-2DB9-49E1-87EF-B0B939E4C76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6A8B552-670D-461F-BC27-8C4138D6F2B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3C41B6B-426E-42C1-A29E-ADE54AA72F3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4C37851-5E17-419A-8253-3A11C6E3D4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5DDACFB-CF61-4368-9E46-1837DA37F9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BFF0749-ACC3-4B10-8918-1F2E3C15E9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895D4D-5520-4105-AEFC-B5BDDB9544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0EDF532-93FD-4D83-A426-AB89F4D035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A701FDD-670A-4A5C-A89A-359B86CD4C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93ECCDE-1E46-4FD7-83A2-55AF119D24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31601F8-203A-4A4B-AE09-8FB3E185C3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F469BDF-C448-4940-B7A0-9DFE3ED926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C164ED7-29B6-430B-98FE-B2E31134FE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123E6D2-914F-4386-95DB-FB4223D29C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5C12443-275F-4A08-AD5A-53728CA2EA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CB24ED2-E995-4C4E-9A49-E34478BACC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48D031C-12F5-4498-8814-A4AA9CB226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02D6AB1-0F64-4FD1-999D-8CB32B2EB6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3757AB9-67CF-4479-B728-088FA0B648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5629B2-ED3A-4B53-99F3-51D2A3D90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3D97014-77A2-4C86-99A6-88697884AB7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D9C548F-B85A-4FBF-859C-985EF3B651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9549BF8-0F9B-43EB-A75A-E64EA4D595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99CA2B4-CFF2-49A5-9EA4-3455B1CA4E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D2AB81F-F943-484E-BFB7-CBFD9B08D8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3199DC-1D28-457B-AB49-A75E148620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EBFF972-6A16-48B9-AA63-097855084F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22B139-4098-40F4-82E9-50212C337B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FD96D89-8367-49AB-BD33-BBFA356133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AA42C6-E81E-40A6-8466-36878C7497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B2023DD-3990-4B97-9E00-F1F87D7A7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D2AF8D-7A95-4E7D-ADE7-688A8DC365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064E80-F544-4D52-8E04-137FF1446D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D0A1E5-CA50-4BAC-9B11-6688D621E8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FE55245-381F-470F-98F9-56EBDD4803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ac0a5f46b54cbc" /><Relationship Type="http://schemas.openxmlformats.org/officeDocument/2006/relationships/slideLayout" Target="/ppt/slideLayouts/slideLayout1.xml" Id="R25068de8630b4b75" /><Relationship Type="http://schemas.openxmlformats.org/officeDocument/2006/relationships/slideLayout" Target="/ppt/slideLayouts/slideLayout2.xml" Id="Rb44b2ccdc6d744f5" /><Relationship Type="http://schemas.openxmlformats.org/officeDocument/2006/relationships/slideLayout" Target="/ppt/slideLayouts/slideLayout3.xml" Id="Rb5c93f200aeb46a1" /><Relationship Type="http://schemas.openxmlformats.org/officeDocument/2006/relationships/slideLayout" Target="/ppt/slideLayouts/slideLayout4.xml" Id="Ra46bcebfdfee4edb" /><Relationship Type="http://schemas.openxmlformats.org/officeDocument/2006/relationships/slideLayout" Target="/ppt/slideLayouts/slideLayout5.xml" Id="Raf91ef6da3024a1b" /><Relationship Type="http://schemas.openxmlformats.org/officeDocument/2006/relationships/slideLayout" Target="/ppt/slideLayouts/slideLayout6.xml" Id="R0d729ae417ca4fc3" /><Relationship Type="http://schemas.openxmlformats.org/officeDocument/2006/relationships/slideLayout" Target="/ppt/slideLayouts/slideLayout7.xml" Id="R113a3b1e3daa4570" /><Relationship Type="http://schemas.openxmlformats.org/officeDocument/2006/relationships/slideLayout" Target="/ppt/slideLayouts/slideLayout8.xml" Id="R249c4a963f284b26" /><Relationship Type="http://schemas.openxmlformats.org/officeDocument/2006/relationships/slideLayout" Target="/ppt/slideLayouts/slideLayout9.xml" Id="R8d15cf1c1f7c40ad" /><Relationship Type="http://schemas.openxmlformats.org/officeDocument/2006/relationships/slideLayout" Target="/ppt/slideLayouts/slideLayout10.xml" Id="R6ff813273be74435" /><Relationship Type="http://schemas.openxmlformats.org/officeDocument/2006/relationships/slideLayout" Target="/ppt/slideLayouts/slideLayout11.xml" Id="R7ad7ab23b6f34f5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37AE7C2-25E7-40C3-89BF-6E7F7A9708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4716D9E-F4AF-4D6A-9817-A2741FAF64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48C9DBE-8156-4F8C-BFD2-1981949F4DA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8/1/2026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C38F33C-1381-4D72-93BD-39891363717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5F06588-2320-4668-A4C8-B1FD6AD241A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068de8630b4b75"/>
    <p:sldLayoutId xmlns:r="http://schemas.openxmlformats.org/officeDocument/2006/relationships" id="2147483650" r:id="Rb44b2ccdc6d744f5"/>
    <p:sldLayoutId xmlns:r="http://schemas.openxmlformats.org/officeDocument/2006/relationships" id="2147483651" r:id="Rb5c93f200aeb46a1"/>
    <p:sldLayoutId xmlns:r="http://schemas.openxmlformats.org/officeDocument/2006/relationships" id="2147483652" r:id="Ra46bcebfdfee4edb"/>
    <p:sldLayoutId xmlns:r="http://schemas.openxmlformats.org/officeDocument/2006/relationships" id="2147483653" r:id="Raf91ef6da3024a1b"/>
    <p:sldLayoutId xmlns:r="http://schemas.openxmlformats.org/officeDocument/2006/relationships" id="2147483654" r:id="R0d729ae417ca4fc3"/>
    <p:sldLayoutId xmlns:r="http://schemas.openxmlformats.org/officeDocument/2006/relationships" id="2147483655" r:id="R113a3b1e3daa4570"/>
    <p:sldLayoutId xmlns:r="http://schemas.openxmlformats.org/officeDocument/2006/relationships" id="2147483656" r:id="R249c4a963f284b26"/>
    <p:sldLayoutId xmlns:r="http://schemas.openxmlformats.org/officeDocument/2006/relationships" id="2147483657" r:id="R8d15cf1c1f7c40ad"/>
    <p:sldLayoutId xmlns:r="http://schemas.openxmlformats.org/officeDocument/2006/relationships" id="2147483658" r:id="R6ff813273be74435"/>
    <p:sldLayoutId xmlns:r="http://schemas.openxmlformats.org/officeDocument/2006/relationships" id="2147483659" r:id="R7ad7ab23b6f34f5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0ae864a00e41f5" /><Relationship Type="http://schemas.openxmlformats.org/officeDocument/2006/relationships/notesSlide" Target="/ppt/notesSlides/notesSlide1.xml" Id="Rf16d25c7bd6d44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c00975068c472a" /><Relationship Type="http://schemas.openxmlformats.org/officeDocument/2006/relationships/notesSlide" Target="/ppt/notesSlides/notesSlide2.xml" Id="R85f66f5bac7c43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25e31d470f4600" /><Relationship Type="http://schemas.openxmlformats.org/officeDocument/2006/relationships/notesSlide" Target="/ppt/notesSlides/notesSlide3.xml" Id="Rd112864d6fd248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3d41abc74f4b87" /><Relationship Type="http://schemas.openxmlformats.org/officeDocument/2006/relationships/notesSlide" Target="/ppt/notesSlides/notesSlide4.xml" Id="R2e00f84eab634d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f5f9cafdf54123" /><Relationship Type="http://schemas.openxmlformats.org/officeDocument/2006/relationships/notesSlide" Target="/ppt/notesSlides/notesSlide5.xml" Id="R6dc2b520ec8f43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b62a1d0da904d7a" /><Relationship Type="http://schemas.openxmlformats.org/officeDocument/2006/relationships/notesSlide" Target="/ppt/notesSlides/notesSlide6.xml" Id="R0ff1726f5c0042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694296456c4ce0" /><Relationship Type="http://schemas.openxmlformats.org/officeDocument/2006/relationships/notesSlide" Target="/ppt/notesSlides/notesSlide7.xml" Id="R4c969523b85b47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5539120c0f4222" /><Relationship Type="http://schemas.openxmlformats.org/officeDocument/2006/relationships/notesSlide" Target="/ppt/notesSlides/notesSlide8.xml" Id="R814922142dfd44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1c03b439a64698" /><Relationship Type="http://schemas.openxmlformats.org/officeDocument/2006/relationships/notesSlide" Target="/ppt/notesSlides/notesSlide9.xml" Id="R34023c1e84f842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a87689955f4643" /><Relationship Type="http://schemas.openxmlformats.org/officeDocument/2006/relationships/notesSlide" Target="/ppt/notesSlides/notesSlide10.xml" Id="R165a17ba68bd45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872b5c674b4dc0" /><Relationship Type="http://schemas.openxmlformats.org/officeDocument/2006/relationships/notesSlide" Target="/ppt/notesSlides/notesSlide11.xml" Id="R2b3d8c13d52244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8dec2577fc403a" /><Relationship Type="http://schemas.openxmlformats.org/officeDocument/2006/relationships/notesSlide" Target="/ppt/notesSlides/notesSlide12.xml" Id="R88e6113de7dd43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de3df462e34832" /><Relationship Type="http://schemas.openxmlformats.org/officeDocument/2006/relationships/notesSlide" Target="/ppt/notesSlides/notesSlide13.xml" Id="R48e02dfd4b52489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e40f32ada74eb7" /><Relationship Type="http://schemas.openxmlformats.org/officeDocument/2006/relationships/notesSlide" Target="/ppt/notesSlides/notesSlide14.xml" Id="R1643aea5de8540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3ee093958445be" /><Relationship Type="http://schemas.openxmlformats.org/officeDocument/2006/relationships/notesSlide" Target="/ppt/notesSlides/notesSlide15.xml" Id="Re80c6e5fc78948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9B9EEED-4CA8-42CE-A79A-F0D66B96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32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7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7BCF1F-0908-4F62-8E40-6F725953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25880"/>
            <a:ext cx="7571816" cy="23083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Intelligent Agents in AI — Category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2200">
                <a:solidFill>
                  <a:srgbClr val="D2DCE6"/>
                </a:solidFill>
                <a:latin typeface="Aptos"/>
                <a:ea typeface="Aptos"/>
                <a:cs typeface="Aptos"/>
              </a:rPr>
              <a:t>Simple Reflex  •  Model-Based  •  Goal-Based  •  Utility-Based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600">
                <a:solidFill>
                  <a:srgbClr val="B4C3D2"/>
                </a:solidFill>
              </a:rPr>
              <a:t>Python implementations across six environment properties.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25D4D04-CEC1-4B7A-B9A7-067E7750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6400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646E78"/>
                </a:solidFill>
              </a:rPr>
              <a:t>1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17FB3958-94CF-4F91-A289-8A944335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32" y="2241755"/>
            <a:ext cx="213360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3">
            <a:schemeClr val="accent6"/>
          </a:lnRef>
          <a:fillRef xmlns:a="http://schemas.openxmlformats.org/drawingml/2006/main" idx="0">
            <a:schemeClr val="accent6"/>
          </a:fillRef>
          <a:effectRef xmlns:a="http://schemas.openxmlformats.org/drawingml/2006/main" idx="2">
            <a:schemeClr val="accent6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8047484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543845-002E-4F06-B925-B1F31246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D541B6C-59D9-4653-AF55-0FFC5243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92739"/>
                </a:solidFill>
                <a:latin typeface="Aptos Display"/>
                <a:ea typeface="Aptos Display"/>
                <a:cs typeface="Aptos Display"/>
              </a:rPr>
              <a:t>1. Agent Environments: Why They Matter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72B0332-F1EA-400C-AA21-F71C879A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0"/>
            <a:ext cx="10698480" cy="25545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An agent’s design depends on the environment in which it acts.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Observable environments determine what the agent can perceive.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Known environments determine whether the agent understands action outcomes.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Static, discrete and deterministic settings are simpler to reason about.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Dynamic, continuous, stochastic and sequential settings demand richer agents.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A9BBF30-4685-4E0C-9624-8A91CC38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77742"/>
            <a:ext cx="1538935" cy="5943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cxnSp>
        <p:nvCxnSpPr>
          <p:cNvPr id="19" name="Connector 5"/>
          <p:cNvCxnSpPr>
            <a:stCxn xmlns:a="http://schemas.openxmlformats.org/drawingml/2006/main" id="5" idx="3"/>
          </p:cNvCxnSpPr>
          <p:nvPr/>
        </p:nvCxnSpPr>
        <p:spPr>
          <a:xfrm xmlns:a="http://schemas.openxmlformats.org/drawingml/2006/main">
            <a:off x="2133295" y="5074920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0501F17-96A6-4455-9DD6-5AF365AE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655" y="4777742"/>
            <a:ext cx="1538936" cy="5943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Percepts</a:t>
            </a:r>
          </a:p>
        </p:txBody>
      </p:sp>
      <p:cxnSp>
        <p:nvCxnSpPr>
          <p:cNvPr id="21" name="Connector 7"/>
          <p:cNvCxnSpPr>
            <a:stCxn xmlns:a="http://schemas.openxmlformats.org/drawingml/2006/main" id="7" idx="3"/>
          </p:cNvCxnSpPr>
          <p:nvPr/>
        </p:nvCxnSpPr>
        <p:spPr>
          <a:xfrm xmlns:a="http://schemas.openxmlformats.org/drawingml/2006/main">
            <a:off x="4266591" y="5074920"/>
            <a:ext cx="443061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0CA36A3-093B-48AE-AAD4-DC737FC8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652" y="4777742"/>
            <a:ext cx="1671483" cy="59435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Agent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Program</a:t>
            </a:r>
          </a:p>
        </p:txBody>
      </p:sp>
      <p:cxnSp>
        <p:nvCxnSpPr>
          <p:cNvPr id="23" name="Connector 9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381135" y="5074920"/>
            <a:ext cx="443061" cy="737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501FEA1-31AB-4DA5-9638-7C16515D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196" y="4779216"/>
            <a:ext cx="1385739" cy="59288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cxnSp>
        <p:nvCxnSpPr>
          <p:cNvPr id="25" name="Connector 11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8209935" y="5073475"/>
            <a:ext cx="545925" cy="218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840432D-9267-47D9-A478-9EB3B2A7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860" y="4774852"/>
            <a:ext cx="1671483" cy="59724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1AFC06A-F8CE-4EAB-9FA1-9E3CEEF6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6400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646E7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01910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14F78F8-89A5-4774-9762-A8FF9C7D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DD2FC22-B330-4DBB-8EBB-4D5150F3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92739"/>
                </a:solidFill>
                <a:latin typeface="Aptos Display"/>
                <a:ea typeface="Aptos Display"/>
                <a:cs typeface="Aptos Display"/>
              </a:rPr>
              <a:t>2. Agent Types Across Environments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1A19D8C-8115-415F-962E-C661B4BA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25603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739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2E6A00-BE57-44D0-819D-B41A370C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371600"/>
            <a:ext cx="21031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739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Observable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3E6B584-6BA2-408C-B6D2-4A4D5191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71600"/>
            <a:ext cx="18288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739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Known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EB2B4AA-5A53-4094-AC40-5CF92F12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371600"/>
            <a:ext cx="18288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739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Dynamic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5683678-47F2-4063-98DC-96D7A5F9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371600"/>
            <a:ext cx="18288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739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</a:rPr>
              <a:t>Stochastic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858C647-3000-4103-9DCB-D67D28BC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25603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Simple Reflex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7329DBF-896F-4410-B97E-ABF3C710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11680"/>
            <a:ext cx="21031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34BEFBA-5064-4B6F-ADE9-41C37749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1168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919EFAE-96BA-4ADF-BFEF-07968990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1168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—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CCE9CDC-1A50-4FA3-B8D9-29F1CA40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01168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—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16F4421-DC1C-4B27-827C-D89DB758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25603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Model-Based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12A9EAD-9E73-4F34-8286-3F5E6783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97480"/>
            <a:ext cx="21031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F28685B-693F-45CE-9DF9-959B3C30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9748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179560E-FEB5-4751-9E42-3D3A9F81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69748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95E3B3B-AFDB-4D86-8E17-723F7912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69748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—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6A2048-7408-493A-89C9-821FD354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83280"/>
            <a:ext cx="25603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Goal-Based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4172E4D-A4B3-4CAB-816A-BC09EEC8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383280"/>
            <a:ext cx="21031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54429CA-E9B0-4C7A-885A-8B317EFC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8328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915DB95-C9F5-43B6-818F-74314A95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38328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043D646-21FF-41AE-A33F-604419F1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38328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656E074-66B9-4E85-90DE-48A421A2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69080"/>
            <a:ext cx="25603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Utility-Based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2EF0568-2C9B-4FA3-A35E-AFECA669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069080"/>
            <a:ext cx="21031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C5E0B8B-1715-4FEB-9721-C74E901F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6908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32B6F0B-078C-4563-806D-45B370E3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06908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6D7D9BE-E816-40D5-AD18-31FF7CEA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06908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2D7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232B34"/>
                </a:solidFill>
              </a:rPr>
              <a:t>✓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31D0E8D-0BFA-4D11-837B-DAB6A7A4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6400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646E7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367381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D150E30-80A2-40CF-A1AC-1531030B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1FB414E-82D9-45D4-B446-6C4C9A26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92739"/>
                </a:solidFill>
                <a:latin typeface="Aptos Display"/>
                <a:ea typeface="Aptos Display"/>
                <a:cs typeface="Aptos Display"/>
              </a:rPr>
              <a:t>3. Simple Reflex Agent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BE92899-07FC-4A18-8615-C9DFC896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59108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46E78"/>
                </a:solidFill>
                <a:latin typeface="Aptos"/>
                <a:ea typeface="Aptos"/>
                <a:cs typeface="Aptos"/>
              </a:rPr>
              <a:t>Best for fully observable, static and deterministic worlds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2912E2-94CD-45DC-ABAF-24DFCB0E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53468"/>
            <a:ext cx="10698480" cy="178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A simple reflex agent maps the current percept directly to an action.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It works well when all relevant information is visible now.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It assumes the world does not change while the agent is deciding.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Example: a two-room vacuum world with a known, discrete state.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085A642-C6BA-4877-820A-A245CC91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164700"/>
            <a:ext cx="2387764" cy="6359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Current Percept</a:t>
            </a:r>
          </a:p>
        </p:txBody>
      </p:sp>
      <p:cxnSp>
        <p:nvCxnSpPr>
          <p:cNvPr id="17" name="Connector 6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805084" y="4482649"/>
            <a:ext cx="614517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2159341-FA4E-4A79-8448-21C7D2F3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1" y="4164700"/>
            <a:ext cx="2387764" cy="63589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Rule Match</a:t>
            </a:r>
          </a:p>
        </p:txBody>
      </p:sp>
      <p:cxnSp>
        <p:nvCxnSpPr>
          <p:cNvPr id="19" name="Connector 8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807365" y="4482649"/>
            <a:ext cx="614517" cy="5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6E1A3AD-9388-4CD5-B8A3-51117F04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2" y="4164708"/>
            <a:ext cx="2046583" cy="6358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ADD82AF-2AE4-4A79-A47F-1233F111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6400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646E7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859122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8F7082-8F6E-43FF-9CEF-6D67DF74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8B0018-97AE-41EF-9A8E-100A2C39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775019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92739"/>
                </a:solidFill>
                <a:latin typeface="Aptos Display"/>
                <a:ea typeface="Aptos Display"/>
                <a:cs typeface="Aptos Display"/>
              </a:rPr>
              <a:t>4. Simple Reflex — Python: fully observable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9B1BE9B-8C83-4BEB-99C7-CAE30B4F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4440"/>
            <a:ext cx="10789920" cy="502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2128"/>
          </a:solidFill>
          <a:ln xmlns:a="http://schemas.openxmlformats.org/drawingml/2006/main">
            <a:solidFill>
              <a:srgbClr val="3C465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96D900B-CC8C-4A08-8F83-BBC6742F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691" y="1691640"/>
            <a:ext cx="10332720" cy="4663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class SimpleReflexAgent: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def act(self, location, status):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status == "Dirty":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return "Suck"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location == "A":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return "Move Right"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 "Move Left"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agent = SimpleReflexAgent()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print(agent.act("A", "Dirty"))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Output: Suck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E8CEC8-71F0-4147-B913-5193C54C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6400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646E7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559660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110289-8B4F-406A-A2FD-FFC1080E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5612B14-3248-46CE-86E0-D5B7CFC7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92739"/>
                </a:solidFill>
                <a:latin typeface="Aptos Display"/>
                <a:ea typeface="Aptos Display"/>
                <a:cs typeface="Aptos Display"/>
              </a:rPr>
              <a:t>5. Model-Based Agent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2374D4D-32AE-4D2C-9BD9-6556E235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61" y="979944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46E78"/>
                </a:solidFill>
                <a:latin typeface="Aptos"/>
                <a:ea typeface="Aptos"/>
                <a:cs typeface="Aptos"/>
              </a:rPr>
              <a:t>Handles partially observable and dynamic environments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D10EFDE-4D22-48B3-9E06-EC869B45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74304"/>
            <a:ext cx="10698480" cy="178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A model-based agent keeps an internal state when it cannot see everything.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It combines the current percept with remembered information.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This supports action when the environment is partially observable.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Example: a vacuum agent remembers an unseen room’s last known status.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83E4196-5604-486F-B66B-3651252C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1" y="4148721"/>
            <a:ext cx="2056416" cy="64942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Percept</a:t>
            </a:r>
          </a:p>
        </p:txBody>
      </p:sp>
      <p:cxnSp>
        <p:nvCxnSpPr>
          <p:cNvPr id="19" name="Connector 6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772697" y="4473431"/>
            <a:ext cx="543479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7B16E15-687A-45DD-ADA4-CAA7C5C9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6176" y="4148721"/>
            <a:ext cx="2056416" cy="6494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Update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Internal State</a:t>
            </a:r>
          </a:p>
        </p:txBody>
      </p:sp>
      <p:cxnSp>
        <p:nvCxnSpPr>
          <p:cNvPr id="21" name="Connector 8"/>
          <p:cNvCxnSpPr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372592" y="4473431"/>
            <a:ext cx="525287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73323A1-CEFA-4150-BE43-D92F573F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79" y="4148721"/>
            <a:ext cx="1917290" cy="6494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cxnSp>
        <p:nvCxnSpPr>
          <p:cNvPr id="23" name="Connector 10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15169" y="4473431"/>
            <a:ext cx="525287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956CD80-7DA6-4EDA-964C-105A49A8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456" y="4148721"/>
            <a:ext cx="1989558" cy="64942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D9757C5-5638-4DAE-9FFB-16738892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6400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646E78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918675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11FD23-D8B2-4354-90CE-EA9E8F0C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6E25662-8313-483D-BC9D-466C6B0A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7670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92739"/>
                </a:solidFill>
                <a:latin typeface="Aptos Display"/>
                <a:ea typeface="Aptos Display"/>
                <a:cs typeface="Aptos Display"/>
              </a:rPr>
              <a:t>6. Model-Based — Python: partial observability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84C3D651-DA1C-40A8-AD36-6BEC7CB7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4440"/>
            <a:ext cx="10789920" cy="502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2128"/>
          </a:solidFill>
          <a:ln xmlns:a="http://schemas.openxmlformats.org/drawingml/2006/main">
            <a:solidFill>
              <a:srgbClr val="3C465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4B1E487-309C-42F6-ACD3-E6827AC7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86882"/>
            <a:ext cx="6917278" cy="45243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class ModelBasedAgent: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self.model = {"A": "Unknown", "B": "Unknown"}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def act(self, location, status):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self.model[location] = status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other = "B" if location == "A" else "A"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status == "Dirty":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return "Suck"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self.model[other] == "Dirty":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return f"Move to {other}"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 "Explore"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agent = ModelBasedAgent()</a:t>
            </a:r>
          </a:p>
          <a:p xmlns:a="http://schemas.openxmlformats.org/drawingml/2006/main">
            <a:r>
              <a:rPr sz="16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print(agent.act("A", "Clean"))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B51F3F6-DE85-4A26-B028-9227E4CE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6400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646E78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069764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F0E5B5-D698-4EC2-B772-55394C59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07D0360-BAC9-4B5B-AD82-A099CAED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92739"/>
                </a:solidFill>
                <a:latin typeface="Aptos Display"/>
                <a:ea typeface="Aptos Display"/>
                <a:cs typeface="Aptos Display"/>
              </a:rPr>
              <a:t>7. Goal-Based Agent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D48265F-F2C5-42E2-ABB7-1F7CDDD0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004828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46E78"/>
                </a:solidFill>
                <a:latin typeface="Aptos"/>
                <a:ea typeface="Aptos"/>
                <a:cs typeface="Aptos"/>
              </a:rPr>
              <a:t>Plans in known, sequential environments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4DF6FF0-1CFF-4366-82B0-A5E501DD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43896"/>
            <a:ext cx="10698480" cy="178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A goal-based agent evaluates actions by whether they move toward a goal.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It is useful when choices form a sequence rather than isolated episodes.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With a known transition model, it can search for a path to the goal.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Example: planning a route through a discrete map.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DE6AE84-9A60-4748-A46C-B62F4277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19225"/>
            <a:ext cx="2216781" cy="61992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Current State</a:t>
            </a:r>
          </a:p>
        </p:txBody>
      </p:sp>
      <p:cxnSp>
        <p:nvCxnSpPr>
          <p:cNvPr id="19" name="Connector 6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930013" y="4429186"/>
            <a:ext cx="521847" cy="1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59854C1-40E3-47C2-BF33-90CB5E9E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60" y="4119225"/>
            <a:ext cx="2207637" cy="61992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cxnSp>
        <p:nvCxnSpPr>
          <p:cNvPr id="21" name="Connector 8"/>
          <p:cNvCxnSpPr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659497" y="4429185"/>
            <a:ext cx="521847" cy="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18C3573-547A-43E6-8E2B-96A992D1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4119225"/>
            <a:ext cx="2207637" cy="619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Search / Planning</a:t>
            </a:r>
          </a:p>
        </p:txBody>
      </p:sp>
      <p:cxnSp>
        <p:nvCxnSpPr>
          <p:cNvPr id="23" name="Connector 10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388981" y="4429185"/>
            <a:ext cx="521847" cy="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03CF74A-E159-4D26-868A-E8202C6B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828" y="4119225"/>
            <a:ext cx="2082964" cy="61992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4E5EC8D-BC47-4F35-BCBE-065E827B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6400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646E78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089650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FDB6DAB-AB28-4EC3-9E1E-221E44E8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BD92F1E-A0B8-4A8C-A123-BC6BA32B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7436651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92739"/>
                </a:solidFill>
                <a:latin typeface="Aptos Display"/>
                <a:ea typeface="Aptos Display"/>
                <a:cs typeface="Aptos Display"/>
              </a:rPr>
              <a:t>8. Goal-Based — Python: known &amp; sequential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D7D71BA-254E-4FC8-9B4C-0C67178A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3729"/>
            <a:ext cx="10789920" cy="558423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2128"/>
          </a:solidFill>
          <a:ln xmlns:a="http://schemas.openxmlformats.org/drawingml/2006/main">
            <a:solidFill>
              <a:srgbClr val="3C465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45C7B22-0961-433B-87D7-07A561AA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999" y="1114354"/>
            <a:ext cx="4687502" cy="52629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collections import deque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class GoalBasedAgent: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def __init__(self, graph, goal):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self.graph, self.goal = graph, goal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def find_path(self, start):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queue = deque([[start]])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visited = set()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while queue: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path = queue.popleft()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state = path[-1]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state == self.goal: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return path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state not in visited: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visited.add(state)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for nxt in self.graph[state]: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queue.append(path + [nxt])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graph = {"A":["B","C"], "B":["D"], "C":["D"], "D":[]}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print(GoalBasedAgent(graph, "D").find_path("A"))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1BAD604-9659-47A2-882E-C4FADD26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6400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646E78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86848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82F5A87-204F-41BD-B806-00C4C1B0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548BC38-6042-40C3-AED2-3173F5F7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92739"/>
                </a:solidFill>
                <a:latin typeface="Aptos Display"/>
                <a:ea typeface="Aptos Display"/>
                <a:cs typeface="Aptos Display"/>
              </a:rPr>
              <a:t>9. Utility-Based Agent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7F0F4C2-79C6-4FE9-99AC-87D0F272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79944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46E78"/>
                </a:solidFill>
                <a:latin typeface="Aptos"/>
                <a:ea typeface="Aptos"/>
                <a:cs typeface="Aptos"/>
              </a:rPr>
              <a:t>Chooses well under stochastic, dynamic and continuous trade-offs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DBB1F49-E2C9-4E81-8ED3-9A2C52D5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74304"/>
            <a:ext cx="10698480" cy="178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A utility-based agent scores possible outcomes instead of simply reaching a goal.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It can compare actions when results are uncertain or preferences conflict.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Expected utility is valuable in stochastic and dynamic environments.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Example: choosing a route that balances time, cost and safety.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FF4A80B-DCE2-40FC-BA86-D5719474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67757"/>
            <a:ext cx="2129667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Possible Actions</a:t>
            </a:r>
          </a:p>
        </p:txBody>
      </p:sp>
      <p:cxnSp>
        <p:nvCxnSpPr>
          <p:cNvPr id="19" name="Connector 6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61187" y="4579237"/>
            <a:ext cx="662694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967206A-59D3-4486-B6B7-C2B869DD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881" y="4167757"/>
            <a:ext cx="196596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Outcomes</a:t>
            </a:r>
          </a:p>
        </p:txBody>
      </p:sp>
      <p:cxnSp>
        <p:nvCxnSpPr>
          <p:cNvPr id="21" name="Connector 8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489841" y="4579237"/>
            <a:ext cx="606006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DEF24C5-D19C-4605-879C-8177CF8D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47" y="4167757"/>
            <a:ext cx="2095254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Utility Function</a:t>
            </a:r>
          </a:p>
        </p:txBody>
      </p:sp>
      <p:cxnSp>
        <p:nvCxnSpPr>
          <p:cNvPr id="23" name="Connector 10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191101" y="4579237"/>
            <a:ext cx="606006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3E379AF-E943-4D4A-B158-3D2698BC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7107" y="4167757"/>
            <a:ext cx="187452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Best Action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6DFF619-E574-4B7C-A357-0EF8C8A4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6400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646E7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003427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4F20AA8-5B63-4DF5-A23E-43B33A93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91D9C49-51A4-4647-8C28-DAC7D930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7903126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92739"/>
                </a:solidFill>
                <a:latin typeface="Aptos Display"/>
                <a:ea typeface="Aptos Display"/>
                <a:cs typeface="Aptos Display"/>
              </a:rPr>
              <a:t>10. Utility-Based — Python: stochastic choices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3C4360C-91A2-41A5-8534-99601611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1548"/>
            <a:ext cx="10789920" cy="53649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2128"/>
          </a:solidFill>
          <a:ln xmlns:a="http://schemas.openxmlformats.org/drawingml/2006/main">
            <a:solidFill>
              <a:srgbClr val="3C465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545E14C-0BE2-4166-976D-060775D8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323" y="1224877"/>
            <a:ext cx="4177747" cy="50783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class UtilityBasedAgent: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def choose(self, actions):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def expected_utility(a):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return (a["success"] * a["reward"]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- (1 - a["success"]) * a["risk"])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 max(actions, key=expected_utility)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actions = [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{"name":"Route A", "success":0.9, "reward":80, "risk":20},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{"name":"Route B", "success":0.7, "reward":100, "risk":35}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]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best = UtilityBasedAgent().choose(actions)</a:t>
            </a:r>
          </a:p>
          <a:p xmlns:a="http://schemas.openxmlformats.org/drawingml/2006/main"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print(best["name"])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FD9F107-9243-460D-99B2-3D75776C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6400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646E7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397683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B13DBDB-5625-4EE7-8EF1-2506E9B1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BAECEA0-977D-4682-925D-425100BA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545976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92739"/>
                </a:solidFill>
                <a:latin typeface="Aptos Display"/>
                <a:ea typeface="Aptos Display"/>
                <a:cs typeface="Aptos Display"/>
              </a:rPr>
              <a:t>11. Fully Observable vs Partially Observable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1F0BD31-F168-43AC-83BF-9883926B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10698480" cy="22467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Fully observable: the current percept contains every relevant state detail.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Partially observable: some relevant details are hidden, noisy or delayed.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Simple reflex agents fit fully observable settings.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Model-based agents store beliefs or internal state for missing information.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Example: chess is fully observable; driving in fog is partially observable.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1301345-7376-4DE2-8E40-237548A8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51960"/>
            <a:ext cx="2141466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Fully Observable</a:t>
            </a:r>
          </a:p>
        </p:txBody>
      </p:sp>
      <p:cxnSp>
        <p:nvCxnSpPr>
          <p:cNvPr id="16" name="Connector 5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72986" y="4663440"/>
            <a:ext cx="451256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768FC70-1B24-492E-A7E5-C1B345C0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42" y="4251960"/>
            <a:ext cx="2191611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Current Percept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Is Enough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245B59B-1FE4-46BE-B6AD-542A9BA5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19" y="4282932"/>
            <a:ext cx="1907458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Partially Observable</a:t>
            </a:r>
          </a:p>
        </p:txBody>
      </p:sp>
      <p:cxnSp>
        <p:nvCxnSpPr>
          <p:cNvPr id="19" name="Connector 8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273577" y="4694412"/>
            <a:ext cx="528335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E59B4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833FDB5-ABCA-4B25-A785-C3635870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912" y="4282932"/>
            <a:ext cx="1907458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305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Percept +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92739"/>
                </a:solidFill>
                <a:latin typeface="Aptos"/>
                <a:ea typeface="Aptos"/>
                <a:cs typeface="Aptos"/>
              </a:rPr>
              <a:t>Internal State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75F5C1C-97BF-4A89-9C18-C6D12966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6400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646E7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311372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FA73A7-AAA8-4A52-B1EB-66B685D3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7A1205E-CCD3-4FE7-ACAC-E318B661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2045"/>
            <a:ext cx="511575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92739"/>
                </a:solidFill>
                <a:latin typeface="Aptos Display"/>
                <a:ea typeface="Aptos Display"/>
                <a:cs typeface="Aptos Display"/>
              </a:rPr>
              <a:t>12. Known vs Unknown; Static vs Dynamic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E677C26-C5CF-47AA-B468-A9CDAB58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47309"/>
            <a:ext cx="9415370" cy="25545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Known: the agent understands how actions change the environment.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Unknown: it must learn or explore the action consequences.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Static: the world stays fixed while the agent deliberates.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Dynamic: the world may change during reasoning, so timing matters.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2000">
                <a:solidFill>
                  <a:srgbClr val="232B34"/>
                </a:solidFill>
                <a:latin typeface="Aptos"/>
                <a:ea typeface="Aptos"/>
                <a:cs typeface="Aptos"/>
              </a:defRPr>
            </a:pPr>
            <a:r>
              <a:t>Known/static worlds favour planning; unknown/dynamic worlds favour learning and frequent updates.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7C8FE0E-E884-47E9-B8B6-7106346A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640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646E78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5360978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2D0CB4-9BE9-4743-AB99-2DE740DE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9ADB701-8E53-4EE2-A4A8-8ECB37A0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92739"/>
                </a:solidFill>
                <a:latin typeface="Aptos Display"/>
                <a:ea typeface="Aptos Display"/>
                <a:cs typeface="Aptos Display"/>
              </a:rPr>
              <a:t>13. Discrete / Continuous; Deterministic / Stochastic; Episodic / Sequential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9023CC0C-C0BB-47CD-91F1-D886E831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283464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7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</a:rPr>
              <a:t>Discrete vs Continuous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DB5B893-0A1B-48B7-A687-2BDB033C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554480"/>
            <a:ext cx="74066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232B34"/>
                </a:solidFill>
              </a:rPr>
              <a:t>Discrete: countable states/actions. Continuous: real-valued time, position or speed.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591813B-0AE2-459E-8E8B-D1132C9D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283464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7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</a:rPr>
              <a:t>Deterministic vs Stochastic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99B0FB1-DED1-4A9E-9F2B-7F40D74B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651760"/>
            <a:ext cx="74066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232B34"/>
                </a:solidFill>
              </a:rPr>
              <a:t>Deterministic: one predicted outcome. Stochastic: actions have uncertain outcomes.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1E3EEDD-BADE-4E96-8DEA-796D12E2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11880"/>
            <a:ext cx="283464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7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</a:rPr>
              <a:t>Episodic vs Sequential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C83EF3-FBDD-4FB1-BB31-D1B0AB24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794760"/>
            <a:ext cx="74066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232B34"/>
                </a:solidFill>
              </a:rPr>
              <a:t>Episodic: each action stands alone. Sequential: today’s action affects later choices.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CAA63D3-2920-41B7-8179-E6C05DCE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54880"/>
            <a:ext cx="283464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7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</a:rPr>
              <a:t>Implementation Implication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C5FC25A-7C26-40EF-9FBB-0BAFE601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937760"/>
            <a:ext cx="74066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232B34"/>
                </a:solidFill>
              </a:rPr>
              <a:t>Use rules for simple worlds; memory, search and utility for increasing complexity.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A291D30-4CE4-4CF9-9807-75058A96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6400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646E7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5650509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3350AF5-0864-4A0E-BAC8-1520DA01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7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FD088C1-F77F-4FA8-A388-FAF90299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0040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14. Conclusion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15F0F2E-BEBF-4FA9-A9D8-773562EC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0140"/>
            <a:ext cx="10789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FFFFFF"/>
                </a:solidFill>
                <a:latin typeface="Aptos"/>
                <a:ea typeface="Aptos"/>
                <a:cs typeface="Aptos"/>
              </a:rPr>
              <a:t>Match the agent architecture to the environment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D761708-1CE5-4D42-94D7-5CD16D5E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07" y="1783080"/>
            <a:ext cx="10698480" cy="29084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Simple Reflex → fully observable, static and deterministic settings.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Model-Based → partially observable or changing settings.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Goal-Based → known, sequential problems that need planning.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Utility-Based → stochastic trade-offs and competing outcomes.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Environment properties guide the Python state, search and decision logic.</a:t>
            </a:r>
          </a:p>
          <a:p xmlns:a="http://schemas.openxmlformats.org/drawingml/2006/main">
            <a:pPr marL="342900" indent="-342900">
              <a:spcAft>
                <a:spcPts val="1200"/>
              </a:spcAft>
              <a:buFont typeface="Wingdings"/>
              <a:buChar char="§"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The richer the environment, the more capable the agent must be.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D8DB748-719A-40E2-BDB3-9726D2A5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46520"/>
            <a:ext cx="64008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646E7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461784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2026-08-01T16:31:43.9030000Z</dcterms:created>
  <dcterms:modified xsi:type="dcterms:W3CDTF">2026-08-01T16:31:43.9030000Z</dcterms:modified>
</coreProperties>
</file>