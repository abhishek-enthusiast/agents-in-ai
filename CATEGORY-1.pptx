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BA1DD-4BF1-43C1-BF30-F5AB9FC86642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F07EE-1D7C-493A-AD42-EB1EF5548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630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19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7571816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 dirty="0">
                <a:solidFill>
                  <a:srgbClr val="FFFFFF"/>
                </a:solidFill>
                <a:latin typeface="Aptos Display"/>
              </a:rPr>
              <a:t>Intelligent Agents in AI</a:t>
            </a:r>
            <a:endParaRPr lang="en-IN" sz="4200" b="1" dirty="0">
              <a:solidFill>
                <a:srgbClr val="FFFFFF"/>
              </a:solidFill>
              <a:latin typeface="Aptos Display"/>
            </a:endParaRPr>
          </a:p>
          <a:p>
            <a:endParaRPr sz="4200" b="1" dirty="0">
              <a:solidFill>
                <a:srgbClr val="FFFFFF"/>
              </a:solidFill>
              <a:latin typeface="Aptos Display"/>
            </a:endParaRPr>
          </a:p>
          <a:p>
            <a:r>
              <a:rPr sz="2200" dirty="0">
                <a:solidFill>
                  <a:srgbClr val="D2DCE6"/>
                </a:solidFill>
                <a:latin typeface="Aptos"/>
              </a:rPr>
              <a:t>Simple Reflex </a:t>
            </a:r>
            <a:r>
              <a:rPr lang="en-IN" sz="2200" dirty="0">
                <a:solidFill>
                  <a:srgbClr val="D2DCE6"/>
                </a:solidFill>
                <a:latin typeface="Aptos"/>
              </a:rPr>
              <a:t> </a:t>
            </a:r>
            <a:r>
              <a:rPr sz="2200" dirty="0">
                <a:solidFill>
                  <a:srgbClr val="D2DCE6"/>
                </a:solidFill>
                <a:latin typeface="Aptos"/>
              </a:rPr>
              <a:t>•</a:t>
            </a:r>
            <a:r>
              <a:rPr lang="en-IN" sz="2200" dirty="0">
                <a:solidFill>
                  <a:srgbClr val="D2DCE6"/>
                </a:solidFill>
                <a:latin typeface="Aptos"/>
              </a:rPr>
              <a:t> </a:t>
            </a:r>
            <a:r>
              <a:rPr sz="2200" dirty="0">
                <a:solidFill>
                  <a:srgbClr val="D2DCE6"/>
                </a:solidFill>
                <a:latin typeface="Aptos"/>
              </a:rPr>
              <a:t> Model-Based</a:t>
            </a:r>
            <a:r>
              <a:rPr lang="en-IN" sz="2200" dirty="0">
                <a:solidFill>
                  <a:srgbClr val="D2DCE6"/>
                </a:solidFill>
                <a:latin typeface="Aptos"/>
              </a:rPr>
              <a:t> </a:t>
            </a:r>
            <a:r>
              <a:rPr sz="2200" dirty="0">
                <a:solidFill>
                  <a:srgbClr val="D2DCE6"/>
                </a:solidFill>
                <a:latin typeface="Aptos"/>
              </a:rPr>
              <a:t> •</a:t>
            </a:r>
            <a:r>
              <a:rPr lang="en-IN" sz="2200" dirty="0">
                <a:solidFill>
                  <a:srgbClr val="D2DCE6"/>
                </a:solidFill>
                <a:latin typeface="Aptos"/>
              </a:rPr>
              <a:t> </a:t>
            </a:r>
            <a:r>
              <a:rPr sz="2200" dirty="0">
                <a:solidFill>
                  <a:srgbClr val="D2DCE6"/>
                </a:solidFill>
                <a:latin typeface="Aptos"/>
              </a:rPr>
              <a:t> Goal-Based </a:t>
            </a:r>
            <a:r>
              <a:rPr lang="en-IN" sz="2200" dirty="0">
                <a:solidFill>
                  <a:srgbClr val="D2DCE6"/>
                </a:solidFill>
                <a:latin typeface="Aptos"/>
              </a:rPr>
              <a:t> </a:t>
            </a:r>
            <a:r>
              <a:rPr sz="2200" dirty="0">
                <a:solidFill>
                  <a:srgbClr val="D2DCE6"/>
                </a:solidFill>
                <a:latin typeface="Aptos"/>
              </a:rPr>
              <a:t>•</a:t>
            </a:r>
            <a:r>
              <a:rPr lang="en-IN" sz="2200" dirty="0">
                <a:solidFill>
                  <a:srgbClr val="D2DCE6"/>
                </a:solidFill>
                <a:latin typeface="Aptos"/>
              </a:rPr>
              <a:t> </a:t>
            </a:r>
            <a:r>
              <a:rPr sz="2200" dirty="0">
                <a:solidFill>
                  <a:srgbClr val="D2DCE6"/>
                </a:solidFill>
                <a:latin typeface="Aptos"/>
              </a:rPr>
              <a:t> Utility-Based</a:t>
            </a:r>
            <a:endParaRPr lang="en-IN" sz="2200" dirty="0">
              <a:solidFill>
                <a:srgbClr val="D2DCE6"/>
              </a:solidFill>
              <a:latin typeface="Aptos"/>
            </a:endParaRPr>
          </a:p>
          <a:p>
            <a:endParaRPr sz="2200" dirty="0">
              <a:solidFill>
                <a:srgbClr val="D2DCE6"/>
              </a:solidFill>
              <a:latin typeface="Aptos"/>
            </a:endParaRPr>
          </a:p>
          <a:p>
            <a:r>
              <a:rPr sz="1600" dirty="0">
                <a:solidFill>
                  <a:srgbClr val="B4C3D2"/>
                </a:solidFill>
              </a:rPr>
              <a:t>Concepts, decision flow and Python implementations</a:t>
            </a:r>
            <a:r>
              <a:rPr lang="en-IN" sz="1600" dirty="0">
                <a:solidFill>
                  <a:srgbClr val="B4C3D2"/>
                </a:solidFill>
              </a:rPr>
              <a:t>.</a:t>
            </a:r>
            <a:endParaRPr sz="1600" dirty="0">
              <a:solidFill>
                <a:srgbClr val="B4C3D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E78"/>
                </a:solidFill>
              </a:rPr>
              <a:t>1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5628442-1A65-B673-6D35-8E7F9952339A}"/>
              </a:ext>
            </a:extLst>
          </p:cNvPr>
          <p:cNvCxnSpPr/>
          <p:nvPr/>
        </p:nvCxnSpPr>
        <p:spPr>
          <a:xfrm>
            <a:off x="924232" y="2241755"/>
            <a:ext cx="213360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39"/>
                </a:solidFill>
                <a:latin typeface="Aptos Display"/>
              </a:rPr>
              <a:t>1. What is an Intelligent Agent?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An intelligent agent is a system that perceives its environment and takes actions to achieve an objective.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Sensors provide information about the environment.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The agent processes the percept and decides what to do.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Actuators carry out the selected action.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The key difference between agent types is how much information and reasoning they 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4777742"/>
            <a:ext cx="1538935" cy="594356"/>
          </a:xfrm>
          <a:prstGeom prst="roundRect">
            <a:avLst/>
          </a:prstGeom>
          <a:solidFill>
            <a:srgbClr val="FFFFFF"/>
          </a:solidFill>
          <a:ln>
            <a:solidFill>
              <a:srgbClr val="30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>
                <a:solidFill>
                  <a:srgbClr val="192739"/>
                </a:solidFill>
                <a:latin typeface="Aptos"/>
              </a:rPr>
              <a:t>Environment</a:t>
            </a:r>
          </a:p>
        </p:txBody>
      </p:sp>
      <p:cxnSp>
        <p:nvCxnSpPr>
          <p:cNvPr id="6" name="Connector 5"/>
          <p:cNvCxnSpPr>
            <a:cxnSpLocks/>
            <a:stCxn id="5" idx="3"/>
          </p:cNvCxnSpPr>
          <p:nvPr/>
        </p:nvCxnSpPr>
        <p:spPr>
          <a:xfrm>
            <a:off x="2133295" y="5074920"/>
            <a:ext cx="594360" cy="0"/>
          </a:xfrm>
          <a:prstGeom prst="line">
            <a:avLst/>
          </a:prstGeom>
          <a:ln w="25400">
            <a:solidFill>
              <a:srgbClr val="E59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27655" y="4777742"/>
            <a:ext cx="1538936" cy="594356"/>
          </a:xfrm>
          <a:prstGeom prst="roundRect">
            <a:avLst/>
          </a:prstGeom>
          <a:solidFill>
            <a:srgbClr val="FFFFFF"/>
          </a:solidFill>
          <a:ln>
            <a:solidFill>
              <a:srgbClr val="30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 dirty="0">
                <a:solidFill>
                  <a:srgbClr val="192739"/>
                </a:solidFill>
                <a:latin typeface="Aptos"/>
              </a:rPr>
              <a:t>Sensors</a:t>
            </a:r>
          </a:p>
        </p:txBody>
      </p:sp>
      <p:cxnSp>
        <p:nvCxnSpPr>
          <p:cNvPr id="8" name="Connector 7"/>
          <p:cNvCxnSpPr>
            <a:cxnSpLocks/>
            <a:stCxn id="7" idx="3"/>
          </p:cNvCxnSpPr>
          <p:nvPr/>
        </p:nvCxnSpPr>
        <p:spPr>
          <a:xfrm>
            <a:off x="4266591" y="5074920"/>
            <a:ext cx="443061" cy="0"/>
          </a:xfrm>
          <a:prstGeom prst="line">
            <a:avLst/>
          </a:prstGeom>
          <a:ln w="25400">
            <a:solidFill>
              <a:srgbClr val="E59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709652" y="4777742"/>
            <a:ext cx="1671483" cy="594355"/>
          </a:xfrm>
          <a:prstGeom prst="roundRect">
            <a:avLst/>
          </a:prstGeom>
          <a:solidFill>
            <a:srgbClr val="FFFFFF"/>
          </a:solidFill>
          <a:ln>
            <a:solidFill>
              <a:srgbClr val="30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>
                <a:solidFill>
                  <a:srgbClr val="192739"/>
                </a:solidFill>
                <a:latin typeface="Aptos"/>
              </a:rPr>
              <a:t>Agent
Decision</a:t>
            </a:r>
          </a:p>
        </p:txBody>
      </p:sp>
      <p:cxnSp>
        <p:nvCxnSpPr>
          <p:cNvPr id="10" name="Connector 9"/>
          <p:cNvCxnSpPr>
            <a:cxnSpLocks/>
            <a:stCxn id="9" idx="3"/>
            <a:endCxn id="11" idx="1"/>
          </p:cNvCxnSpPr>
          <p:nvPr/>
        </p:nvCxnSpPr>
        <p:spPr>
          <a:xfrm>
            <a:off x="6381135" y="5074920"/>
            <a:ext cx="443061" cy="737"/>
          </a:xfrm>
          <a:prstGeom prst="line">
            <a:avLst/>
          </a:prstGeom>
          <a:ln w="25400">
            <a:solidFill>
              <a:srgbClr val="E59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824196" y="4779216"/>
            <a:ext cx="1385739" cy="592882"/>
          </a:xfrm>
          <a:prstGeom prst="roundRect">
            <a:avLst/>
          </a:prstGeom>
          <a:solidFill>
            <a:srgbClr val="FFFFFF"/>
          </a:solidFill>
          <a:ln>
            <a:solidFill>
              <a:srgbClr val="30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 dirty="0">
                <a:solidFill>
                  <a:srgbClr val="192739"/>
                </a:solidFill>
                <a:latin typeface="Aptos"/>
              </a:rPr>
              <a:t>Actuators</a:t>
            </a:r>
          </a:p>
        </p:txBody>
      </p:sp>
      <p:cxnSp>
        <p:nvCxnSpPr>
          <p:cNvPr id="12" name="Connector 11"/>
          <p:cNvCxnSpPr>
            <a:cxnSpLocks/>
            <a:stCxn id="11" idx="3"/>
            <a:endCxn id="13" idx="1"/>
          </p:cNvCxnSpPr>
          <p:nvPr/>
        </p:nvCxnSpPr>
        <p:spPr>
          <a:xfrm flipV="1">
            <a:off x="8209935" y="5073475"/>
            <a:ext cx="545925" cy="2182"/>
          </a:xfrm>
          <a:prstGeom prst="line">
            <a:avLst/>
          </a:prstGeom>
          <a:ln w="25400">
            <a:solidFill>
              <a:srgbClr val="E59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755860" y="4774852"/>
            <a:ext cx="1671483" cy="597246"/>
          </a:xfrm>
          <a:prstGeom prst="roundRect">
            <a:avLst/>
          </a:prstGeom>
          <a:solidFill>
            <a:srgbClr val="FFFFFF"/>
          </a:solidFill>
          <a:ln>
            <a:solidFill>
              <a:srgbClr val="30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>
                <a:solidFill>
                  <a:srgbClr val="192739"/>
                </a:solidFill>
                <a:latin typeface="Aptos"/>
              </a:rPr>
              <a:t>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E7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39"/>
                </a:solidFill>
                <a:latin typeface="Aptos Display"/>
              </a:rPr>
              <a:t>2. Four Types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560320" cy="640080"/>
          </a:xfrm>
          <a:prstGeom prst="rect">
            <a:avLst/>
          </a:prstGeom>
          <a:solidFill>
            <a:srgbClr val="19273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371600"/>
            <a:ext cx="2103120" cy="640080"/>
          </a:xfrm>
          <a:prstGeom prst="rect">
            <a:avLst/>
          </a:prstGeom>
          <a:solidFill>
            <a:srgbClr val="19273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Current Percept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1371600"/>
            <a:ext cx="1828800" cy="640080"/>
          </a:xfrm>
          <a:prstGeom prst="rect">
            <a:avLst/>
          </a:prstGeom>
          <a:solidFill>
            <a:srgbClr val="19273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Memory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371600"/>
            <a:ext cx="1828800" cy="640080"/>
          </a:xfrm>
          <a:prstGeom prst="rect">
            <a:avLst/>
          </a:prstGeom>
          <a:solidFill>
            <a:srgbClr val="19273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Goals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0" y="1371600"/>
            <a:ext cx="1828800" cy="640080"/>
          </a:xfrm>
          <a:prstGeom prst="rect">
            <a:avLst/>
          </a:prstGeom>
          <a:solidFill>
            <a:srgbClr val="19273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Utility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25603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32B34"/>
                </a:solidFill>
              </a:rPr>
              <a:t>Simple Reflex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011680"/>
            <a:ext cx="21031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32B34"/>
                </a:solidFill>
              </a:rPr>
              <a:t>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2011680"/>
            <a:ext cx="18288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32B34"/>
                </a:solidFill>
              </a:rPr>
              <a:t>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011680"/>
            <a:ext cx="18288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32B34"/>
                </a:solidFill>
              </a:rPr>
              <a:t>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2011680"/>
            <a:ext cx="18288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32B34"/>
                </a:solidFill>
              </a:rPr>
              <a:t>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697480"/>
            <a:ext cx="25603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32B34"/>
                </a:solidFill>
              </a:rPr>
              <a:t>Model-Based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697480"/>
            <a:ext cx="21031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32B34"/>
                </a:solidFill>
              </a:rPr>
              <a:t>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2697480"/>
            <a:ext cx="18288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32B34"/>
                </a:solidFill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697480"/>
            <a:ext cx="18288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32B34"/>
                </a:solidFill>
              </a:rP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2697480"/>
            <a:ext cx="18288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32B34"/>
                </a:solidFill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383280"/>
            <a:ext cx="25603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32B34"/>
                </a:solidFill>
              </a:rPr>
              <a:t>Goal-Based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383280"/>
            <a:ext cx="21031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32B34"/>
                </a:solidFill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3383280"/>
            <a:ext cx="18288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32B34"/>
                </a:solidFill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3383280"/>
            <a:ext cx="18288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32B34"/>
                </a:solidFill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3383280"/>
            <a:ext cx="18288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32B34"/>
                </a:solidFill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069080"/>
            <a:ext cx="25603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32B34"/>
                </a:solidFill>
              </a:rPr>
              <a:t>Utility-Based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4069080"/>
            <a:ext cx="21031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32B34"/>
                </a:solidFill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4069080"/>
            <a:ext cx="18288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32B34"/>
                </a:solidFill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4069080"/>
            <a:ext cx="18288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32B34"/>
                </a:solidFill>
              </a:rP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4069080"/>
            <a:ext cx="18288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32B34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E7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39"/>
                </a:solidFill>
                <a:latin typeface="Aptos Display"/>
              </a:rPr>
              <a:t>3. Simple Reflex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591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646E78"/>
                </a:solidFill>
                <a:latin typeface="Aptos"/>
              </a:rPr>
              <a:t>Acts only on the current percept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3468"/>
            <a:ext cx="1069848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Uses condition–action rules: IF condition → THEN action.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It does not maintain memory of previous situations.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Best suited to simple, fully observable environments.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Example: a vacuum cleaner that cleans whenever it detects dirt.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4164700"/>
            <a:ext cx="2387764" cy="635900"/>
          </a:xfrm>
          <a:prstGeom prst="roundRect">
            <a:avLst/>
          </a:prstGeom>
          <a:solidFill>
            <a:srgbClr val="FFFFFF"/>
          </a:solidFill>
          <a:ln>
            <a:solidFill>
              <a:srgbClr val="30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 dirty="0">
                <a:solidFill>
                  <a:srgbClr val="192739"/>
                </a:solidFill>
                <a:latin typeface="Aptos"/>
              </a:rPr>
              <a:t>Current Percept</a:t>
            </a:r>
          </a:p>
        </p:txBody>
      </p:sp>
      <p:cxnSp>
        <p:nvCxnSpPr>
          <p:cNvPr id="7" name="Connector 6"/>
          <p:cNvCxnSpPr>
            <a:cxnSpLocks/>
            <a:stCxn id="6" idx="3"/>
            <a:endCxn id="8" idx="1"/>
          </p:cNvCxnSpPr>
          <p:nvPr/>
        </p:nvCxnSpPr>
        <p:spPr>
          <a:xfrm flipV="1">
            <a:off x="3805084" y="4482649"/>
            <a:ext cx="614517" cy="1"/>
          </a:xfrm>
          <a:prstGeom prst="line">
            <a:avLst/>
          </a:prstGeom>
          <a:ln w="25400">
            <a:solidFill>
              <a:srgbClr val="E59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19601" y="4164700"/>
            <a:ext cx="2387764" cy="635898"/>
          </a:xfrm>
          <a:prstGeom prst="roundRect">
            <a:avLst/>
          </a:prstGeom>
          <a:solidFill>
            <a:srgbClr val="FFFFFF"/>
          </a:solidFill>
          <a:ln>
            <a:solidFill>
              <a:srgbClr val="30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>
                <a:solidFill>
                  <a:srgbClr val="192739"/>
                </a:solidFill>
                <a:latin typeface="Aptos"/>
              </a:rPr>
              <a:t>Rule Match</a:t>
            </a:r>
          </a:p>
        </p:txBody>
      </p:sp>
      <p:cxnSp>
        <p:nvCxnSpPr>
          <p:cNvPr id="9" name="Connector 8"/>
          <p:cNvCxnSpPr>
            <a:cxnSpLocks/>
            <a:stCxn id="8" idx="3"/>
            <a:endCxn id="10" idx="1"/>
          </p:cNvCxnSpPr>
          <p:nvPr/>
        </p:nvCxnSpPr>
        <p:spPr>
          <a:xfrm>
            <a:off x="6807365" y="4482649"/>
            <a:ext cx="614517" cy="5"/>
          </a:xfrm>
          <a:prstGeom prst="line">
            <a:avLst/>
          </a:prstGeom>
          <a:ln w="25400">
            <a:solidFill>
              <a:srgbClr val="E59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21882" y="4164708"/>
            <a:ext cx="2046583" cy="635892"/>
          </a:xfrm>
          <a:prstGeom prst="roundRect">
            <a:avLst/>
          </a:prstGeom>
          <a:solidFill>
            <a:srgbClr val="FFFFFF"/>
          </a:solidFill>
          <a:ln>
            <a:solidFill>
              <a:srgbClr val="30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>
                <a:solidFill>
                  <a:srgbClr val="192739"/>
                </a:solidFill>
                <a:latin typeface="Aptos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E7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75019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92739"/>
                </a:solidFill>
                <a:latin typeface="Aptos Display"/>
              </a:rPr>
              <a:t>4. Simple Reflex Agent — Python</a:t>
            </a:r>
            <a:r>
              <a:rPr lang="en-IN" sz="2800" b="1" dirty="0">
                <a:solidFill>
                  <a:srgbClr val="192739"/>
                </a:solidFill>
                <a:latin typeface="Aptos Display"/>
              </a:rPr>
              <a:t> implementation:</a:t>
            </a:r>
            <a:endParaRPr sz="2800" b="1" dirty="0">
              <a:solidFill>
                <a:srgbClr val="192739"/>
              </a:solidFill>
              <a:latin typeface="Aptos Display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789920" cy="5029200"/>
          </a:xfrm>
          <a:prstGeom prst="roundRect">
            <a:avLst/>
          </a:prstGeom>
          <a:solidFill>
            <a:srgbClr val="1C2128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07691" y="1691640"/>
            <a:ext cx="1033272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FFFFFF"/>
                </a:solidFill>
                <a:latin typeface="Consolas"/>
              </a:rPr>
              <a:t>class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SimpleReflexAgent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:
    def act(self, location, status):
        if status == "Dirty":
            return "Suck"
       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elif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 location == "A":
            return "Move Right"
       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elif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 location == "B":
            return "Move Left"
agent =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SimpleReflexAgent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()
print(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agent.act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("A", "Dirty"))
# Output: Suck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E7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39"/>
                </a:solidFill>
                <a:latin typeface="Aptos Display"/>
              </a:rPr>
              <a:t>5. Model-Based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4561" y="979944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646E78"/>
                </a:solidFill>
                <a:latin typeface="Aptos"/>
              </a:rPr>
              <a:t>Adds an internal state /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74304"/>
            <a:ext cx="1069848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Maintains an internal model of parts of the environment.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Updates its internal state using the current percept and previous state.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Can make decisions using information that is not currently visible.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Example: remembering that another room was dirty.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6281" y="4148721"/>
            <a:ext cx="2056416" cy="649421"/>
          </a:xfrm>
          <a:prstGeom prst="roundRect">
            <a:avLst/>
          </a:prstGeom>
          <a:solidFill>
            <a:srgbClr val="FFFFFF"/>
          </a:solidFill>
          <a:ln>
            <a:solidFill>
              <a:srgbClr val="30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>
                <a:solidFill>
                  <a:srgbClr val="192739"/>
                </a:solidFill>
                <a:latin typeface="Aptos"/>
              </a:rPr>
              <a:t>Percept</a:t>
            </a:r>
          </a:p>
        </p:txBody>
      </p:sp>
      <p:cxnSp>
        <p:nvCxnSpPr>
          <p:cNvPr id="7" name="Connector 6"/>
          <p:cNvCxnSpPr>
            <a:cxnSpLocks/>
            <a:stCxn id="6" idx="3"/>
            <a:endCxn id="8" idx="1"/>
          </p:cNvCxnSpPr>
          <p:nvPr/>
        </p:nvCxnSpPr>
        <p:spPr>
          <a:xfrm flipV="1">
            <a:off x="2772697" y="4473431"/>
            <a:ext cx="543479" cy="1"/>
          </a:xfrm>
          <a:prstGeom prst="line">
            <a:avLst/>
          </a:prstGeom>
          <a:ln w="25400">
            <a:solidFill>
              <a:srgbClr val="E59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16176" y="4148721"/>
            <a:ext cx="2056416" cy="649420"/>
          </a:xfrm>
          <a:prstGeom prst="roundRect">
            <a:avLst/>
          </a:prstGeom>
          <a:solidFill>
            <a:srgbClr val="FFFFFF"/>
          </a:solidFill>
          <a:ln>
            <a:solidFill>
              <a:srgbClr val="30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 dirty="0">
                <a:solidFill>
                  <a:srgbClr val="192739"/>
                </a:solidFill>
                <a:latin typeface="Aptos"/>
              </a:rPr>
              <a:t>Update
Internal State</a:t>
            </a:r>
          </a:p>
        </p:txBody>
      </p:sp>
      <p:cxnSp>
        <p:nvCxnSpPr>
          <p:cNvPr id="9" name="Connector 8"/>
          <p:cNvCxnSpPr>
            <a:cxnSpLocks/>
            <a:endCxn id="10" idx="1"/>
          </p:cNvCxnSpPr>
          <p:nvPr/>
        </p:nvCxnSpPr>
        <p:spPr>
          <a:xfrm flipV="1">
            <a:off x="5372592" y="4473431"/>
            <a:ext cx="525287" cy="1"/>
          </a:xfrm>
          <a:prstGeom prst="line">
            <a:avLst/>
          </a:prstGeom>
          <a:ln w="25400">
            <a:solidFill>
              <a:srgbClr val="E59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897879" y="4148721"/>
            <a:ext cx="1917290" cy="649420"/>
          </a:xfrm>
          <a:prstGeom prst="roundRect">
            <a:avLst/>
          </a:prstGeom>
          <a:solidFill>
            <a:srgbClr val="FFFFFF"/>
          </a:solidFill>
          <a:ln>
            <a:solidFill>
              <a:srgbClr val="30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>
                <a:solidFill>
                  <a:srgbClr val="192739"/>
                </a:solidFill>
                <a:latin typeface="Aptos"/>
              </a:rPr>
              <a:t>Model</a:t>
            </a:r>
          </a:p>
        </p:txBody>
      </p:sp>
      <p:cxnSp>
        <p:nvCxnSpPr>
          <p:cNvPr id="11" name="Connector 10"/>
          <p:cNvCxnSpPr>
            <a:cxnSpLocks/>
            <a:stCxn id="10" idx="3"/>
            <a:endCxn id="12" idx="1"/>
          </p:cNvCxnSpPr>
          <p:nvPr/>
        </p:nvCxnSpPr>
        <p:spPr>
          <a:xfrm>
            <a:off x="7815169" y="4473431"/>
            <a:ext cx="525287" cy="1"/>
          </a:xfrm>
          <a:prstGeom prst="line">
            <a:avLst/>
          </a:prstGeom>
          <a:ln w="25400">
            <a:solidFill>
              <a:srgbClr val="E59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340456" y="4148721"/>
            <a:ext cx="1989558" cy="649421"/>
          </a:xfrm>
          <a:prstGeom prst="roundRect">
            <a:avLst/>
          </a:prstGeom>
          <a:solidFill>
            <a:srgbClr val="FFFFFF"/>
          </a:solidFill>
          <a:ln>
            <a:solidFill>
              <a:srgbClr val="30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 dirty="0">
                <a:solidFill>
                  <a:srgbClr val="192739"/>
                </a:solidFill>
                <a:latin typeface="Aptos"/>
              </a:rPr>
              <a:t>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E7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67069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92739"/>
                </a:solidFill>
                <a:latin typeface="Aptos Display"/>
              </a:rPr>
              <a:t>6. Model-Based Agent — Python</a:t>
            </a:r>
            <a:r>
              <a:rPr lang="en-IN" sz="2800" b="1" dirty="0">
                <a:solidFill>
                  <a:srgbClr val="192739"/>
                </a:solidFill>
                <a:latin typeface="Aptos Display"/>
              </a:rPr>
              <a:t> implementation:</a:t>
            </a:r>
            <a:endParaRPr sz="2800" b="1" dirty="0">
              <a:solidFill>
                <a:srgbClr val="192739"/>
              </a:solidFill>
              <a:latin typeface="Aptos Display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789920" cy="5029200"/>
          </a:xfrm>
          <a:prstGeom prst="roundRect">
            <a:avLst/>
          </a:prstGeom>
          <a:solidFill>
            <a:srgbClr val="1C2128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43000" y="1486882"/>
            <a:ext cx="6917278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FFFFFF"/>
                </a:solidFill>
                <a:latin typeface="Consolas"/>
              </a:rPr>
              <a:t>class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ModelBasedAgent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:
    def __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init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__(self):
       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self.model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 = {"A": "Unknown", "B": "Unknown"}
    def act(self, location, status):
       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self.model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[location] = status
        if status == "Dirty":
            return "Suck"
       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elif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 location == "A" and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self.model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["B"] == "Dirty":
            return "Move Right"
       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elif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 location == "B" and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self.model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["A"] == "Dirty":
            return "Move Left"
        return "Stay"
agent =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ModelBasedAgent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()
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agent.act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("B", "Dirty")
print(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agent.model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E7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39"/>
                </a:solidFill>
                <a:latin typeface="Aptos Display"/>
              </a:rPr>
              <a:t>7. Goal-Based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48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646E78"/>
                </a:solidFill>
                <a:latin typeface="Aptos"/>
              </a:rPr>
              <a:t>Chooses actions that help achieve a specified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43896"/>
            <a:ext cx="1069848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Uses a goal to evaluate what should happen next.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Often requires search or planning to find a sequence of actions.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It considers future consequences rather than reacting only to the current percept.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Example: finding a path from A to a destination 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119225"/>
            <a:ext cx="2216781" cy="619923"/>
          </a:xfrm>
          <a:prstGeom prst="roundRect">
            <a:avLst/>
          </a:prstGeom>
          <a:solidFill>
            <a:srgbClr val="FFFFFF"/>
          </a:solidFill>
          <a:ln>
            <a:solidFill>
              <a:srgbClr val="30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>
                <a:solidFill>
                  <a:srgbClr val="192739"/>
                </a:solidFill>
                <a:latin typeface="Aptos"/>
              </a:rPr>
              <a:t>Current State</a:t>
            </a:r>
          </a:p>
        </p:txBody>
      </p:sp>
      <p:cxnSp>
        <p:nvCxnSpPr>
          <p:cNvPr id="7" name="Connector 6"/>
          <p:cNvCxnSpPr>
            <a:cxnSpLocks/>
            <a:stCxn id="6" idx="3"/>
            <a:endCxn id="8" idx="1"/>
          </p:cNvCxnSpPr>
          <p:nvPr/>
        </p:nvCxnSpPr>
        <p:spPr>
          <a:xfrm flipV="1">
            <a:off x="2930013" y="4429186"/>
            <a:ext cx="521847" cy="1"/>
          </a:xfrm>
          <a:prstGeom prst="line">
            <a:avLst/>
          </a:prstGeom>
          <a:ln w="25400">
            <a:solidFill>
              <a:srgbClr val="E59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51860" y="4119225"/>
            <a:ext cx="2207637" cy="619922"/>
          </a:xfrm>
          <a:prstGeom prst="roundRect">
            <a:avLst/>
          </a:prstGeom>
          <a:solidFill>
            <a:srgbClr val="FFFFFF"/>
          </a:solidFill>
          <a:ln>
            <a:solidFill>
              <a:srgbClr val="30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>
                <a:solidFill>
                  <a:srgbClr val="192739"/>
                </a:solidFill>
                <a:latin typeface="Aptos"/>
              </a:rPr>
              <a:t>Goal</a:t>
            </a:r>
          </a:p>
        </p:txBody>
      </p:sp>
      <p:cxnSp>
        <p:nvCxnSpPr>
          <p:cNvPr id="9" name="Connector 8"/>
          <p:cNvCxnSpPr>
            <a:cxnSpLocks/>
            <a:endCxn id="10" idx="1"/>
          </p:cNvCxnSpPr>
          <p:nvPr/>
        </p:nvCxnSpPr>
        <p:spPr>
          <a:xfrm flipV="1">
            <a:off x="5659497" y="4429185"/>
            <a:ext cx="521847" cy="2"/>
          </a:xfrm>
          <a:prstGeom prst="line">
            <a:avLst/>
          </a:prstGeom>
          <a:ln w="25400">
            <a:solidFill>
              <a:srgbClr val="E59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81344" y="4119225"/>
            <a:ext cx="2207637" cy="619920"/>
          </a:xfrm>
          <a:prstGeom prst="roundRect">
            <a:avLst/>
          </a:prstGeom>
          <a:solidFill>
            <a:srgbClr val="FFFFFF"/>
          </a:solidFill>
          <a:ln>
            <a:solidFill>
              <a:srgbClr val="30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 dirty="0">
                <a:solidFill>
                  <a:srgbClr val="192739"/>
                </a:solidFill>
                <a:latin typeface="Aptos"/>
              </a:rPr>
              <a:t>Search / Planning</a:t>
            </a:r>
          </a:p>
        </p:txBody>
      </p:sp>
      <p:cxnSp>
        <p:nvCxnSpPr>
          <p:cNvPr id="11" name="Connector 10"/>
          <p:cNvCxnSpPr>
            <a:cxnSpLocks/>
            <a:stCxn id="10" idx="3"/>
            <a:endCxn id="12" idx="1"/>
          </p:cNvCxnSpPr>
          <p:nvPr/>
        </p:nvCxnSpPr>
        <p:spPr>
          <a:xfrm>
            <a:off x="8388981" y="4429185"/>
            <a:ext cx="521847" cy="2"/>
          </a:xfrm>
          <a:prstGeom prst="line">
            <a:avLst/>
          </a:prstGeom>
          <a:ln w="25400">
            <a:solidFill>
              <a:srgbClr val="E59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910828" y="4119225"/>
            <a:ext cx="2082964" cy="619923"/>
          </a:xfrm>
          <a:prstGeom prst="roundRect">
            <a:avLst/>
          </a:prstGeom>
          <a:solidFill>
            <a:srgbClr val="FFFFFF"/>
          </a:solidFill>
          <a:ln>
            <a:solidFill>
              <a:srgbClr val="30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>
                <a:solidFill>
                  <a:srgbClr val="192739"/>
                </a:solidFill>
                <a:latin typeface="Aptos"/>
              </a:rPr>
              <a:t>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E7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4366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92739"/>
                </a:solidFill>
                <a:latin typeface="Aptos Display"/>
              </a:rPr>
              <a:t>8. Goal-Based Agent — Python</a:t>
            </a:r>
            <a:r>
              <a:rPr lang="en-IN" sz="2800" b="1" dirty="0">
                <a:solidFill>
                  <a:srgbClr val="192739"/>
                </a:solidFill>
                <a:latin typeface="Aptos Display"/>
              </a:rPr>
              <a:t> implementation:</a:t>
            </a:r>
            <a:endParaRPr sz="2800" b="1" dirty="0">
              <a:solidFill>
                <a:srgbClr val="192739"/>
              </a:solidFill>
              <a:latin typeface="Aptos Display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953729"/>
            <a:ext cx="10789920" cy="5584231"/>
          </a:xfrm>
          <a:prstGeom prst="roundRect">
            <a:avLst/>
          </a:prstGeom>
          <a:solidFill>
            <a:srgbClr val="1C2128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23999" y="1114354"/>
            <a:ext cx="4687502" cy="52629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Consolas"/>
              </a:rPr>
              <a:t>from collections import deque
class </a:t>
            </a:r>
            <a:r>
              <a:rPr sz="1200" dirty="0" err="1">
                <a:solidFill>
                  <a:srgbClr val="FFFFFF"/>
                </a:solidFill>
                <a:latin typeface="Consolas"/>
              </a:rPr>
              <a:t>GoalBasedAgent</a:t>
            </a:r>
            <a:r>
              <a:rPr sz="1200" dirty="0">
                <a:solidFill>
                  <a:srgbClr val="FFFFFF"/>
                </a:solidFill>
                <a:latin typeface="Consolas"/>
              </a:rPr>
              <a:t>:
    def __</a:t>
            </a:r>
            <a:r>
              <a:rPr sz="1200" dirty="0" err="1">
                <a:solidFill>
                  <a:srgbClr val="FFFFFF"/>
                </a:solidFill>
                <a:latin typeface="Consolas"/>
              </a:rPr>
              <a:t>init</a:t>
            </a:r>
            <a:r>
              <a:rPr sz="1200" dirty="0">
                <a:solidFill>
                  <a:srgbClr val="FFFFFF"/>
                </a:solidFill>
                <a:latin typeface="Consolas"/>
              </a:rPr>
              <a:t>__(self, graph, goal):
        </a:t>
            </a:r>
            <a:r>
              <a:rPr sz="1200" dirty="0" err="1">
                <a:solidFill>
                  <a:srgbClr val="FFFFFF"/>
                </a:solidFill>
                <a:latin typeface="Consolas"/>
              </a:rPr>
              <a:t>self.graph</a:t>
            </a:r>
            <a:r>
              <a:rPr sz="1200" dirty="0">
                <a:solidFill>
                  <a:srgbClr val="FFFFFF"/>
                </a:solidFill>
                <a:latin typeface="Consolas"/>
              </a:rPr>
              <a:t> = graph
        </a:t>
            </a:r>
            <a:r>
              <a:rPr sz="1200" dirty="0" err="1">
                <a:solidFill>
                  <a:srgbClr val="FFFFFF"/>
                </a:solidFill>
                <a:latin typeface="Consolas"/>
              </a:rPr>
              <a:t>self.goal</a:t>
            </a:r>
            <a:r>
              <a:rPr sz="1200" dirty="0">
                <a:solidFill>
                  <a:srgbClr val="FFFFFF"/>
                </a:solidFill>
                <a:latin typeface="Consolas"/>
              </a:rPr>
              <a:t> = goal
    def </a:t>
            </a:r>
            <a:r>
              <a:rPr sz="1200" dirty="0" err="1">
                <a:solidFill>
                  <a:srgbClr val="FFFFFF"/>
                </a:solidFill>
                <a:latin typeface="Consolas"/>
              </a:rPr>
              <a:t>find_path</a:t>
            </a:r>
            <a:r>
              <a:rPr sz="1200" dirty="0">
                <a:solidFill>
                  <a:srgbClr val="FFFFFF"/>
                </a:solidFill>
                <a:latin typeface="Consolas"/>
              </a:rPr>
              <a:t>(self, start):
        queue = deque([[start]])
        visited = set()
        while queue:
            path = </a:t>
            </a:r>
            <a:r>
              <a:rPr sz="1200" dirty="0" err="1">
                <a:solidFill>
                  <a:srgbClr val="FFFFFF"/>
                </a:solidFill>
                <a:latin typeface="Consolas"/>
              </a:rPr>
              <a:t>queue.popleft</a:t>
            </a:r>
            <a:r>
              <a:rPr sz="1200" dirty="0">
                <a:solidFill>
                  <a:srgbClr val="FFFFFF"/>
                </a:solidFill>
                <a:latin typeface="Consolas"/>
              </a:rPr>
              <a:t>()
            current = path[-1]
            if current == </a:t>
            </a:r>
            <a:r>
              <a:rPr sz="1200" dirty="0" err="1">
                <a:solidFill>
                  <a:srgbClr val="FFFFFF"/>
                </a:solidFill>
                <a:latin typeface="Consolas"/>
              </a:rPr>
              <a:t>self.goal</a:t>
            </a:r>
            <a:r>
              <a:rPr sz="1200" dirty="0">
                <a:solidFill>
                  <a:srgbClr val="FFFFFF"/>
                </a:solidFill>
                <a:latin typeface="Consolas"/>
              </a:rPr>
              <a:t>:
                return path
            if current in visited:
                continue
            </a:t>
            </a:r>
            <a:r>
              <a:rPr sz="1200" dirty="0" err="1">
                <a:solidFill>
                  <a:srgbClr val="FFFFFF"/>
                </a:solidFill>
                <a:latin typeface="Consolas"/>
              </a:rPr>
              <a:t>visited.add</a:t>
            </a:r>
            <a:r>
              <a:rPr sz="1200" dirty="0">
                <a:solidFill>
                  <a:srgbClr val="FFFFFF"/>
                </a:solidFill>
                <a:latin typeface="Consolas"/>
              </a:rPr>
              <a:t>(current)
            for n in </a:t>
            </a:r>
            <a:r>
              <a:rPr sz="1200" dirty="0" err="1">
                <a:solidFill>
                  <a:srgbClr val="FFFFFF"/>
                </a:solidFill>
                <a:latin typeface="Consolas"/>
              </a:rPr>
              <a:t>self.graph</a:t>
            </a:r>
            <a:r>
              <a:rPr sz="1200" dirty="0">
                <a:solidFill>
                  <a:srgbClr val="FFFFFF"/>
                </a:solidFill>
                <a:latin typeface="Consolas"/>
              </a:rPr>
              <a:t>[current]:
                </a:t>
            </a:r>
            <a:r>
              <a:rPr sz="1200" dirty="0" err="1">
                <a:solidFill>
                  <a:srgbClr val="FFFFFF"/>
                </a:solidFill>
                <a:latin typeface="Consolas"/>
              </a:rPr>
              <a:t>queue.append</a:t>
            </a:r>
            <a:r>
              <a:rPr sz="1200" dirty="0">
                <a:solidFill>
                  <a:srgbClr val="FFFFFF"/>
                </a:solidFill>
                <a:latin typeface="Consolas"/>
              </a:rPr>
              <a:t>(path + [n])
graph = {"A":["B","C"], "B":["D"], "C":["D"], "D":[]}
agent = </a:t>
            </a:r>
            <a:r>
              <a:rPr sz="1200" dirty="0" err="1">
                <a:solidFill>
                  <a:srgbClr val="FFFFFF"/>
                </a:solidFill>
                <a:latin typeface="Consolas"/>
              </a:rPr>
              <a:t>GoalBasedAgent</a:t>
            </a:r>
            <a:r>
              <a:rPr sz="1200" dirty="0">
                <a:solidFill>
                  <a:srgbClr val="FFFFFF"/>
                </a:solidFill>
                <a:latin typeface="Consolas"/>
              </a:rPr>
              <a:t>(graph, "D")
print(</a:t>
            </a:r>
            <a:r>
              <a:rPr sz="1200" dirty="0" err="1">
                <a:solidFill>
                  <a:srgbClr val="FFFFFF"/>
                </a:solidFill>
                <a:latin typeface="Consolas"/>
              </a:rPr>
              <a:t>agent.find_path</a:t>
            </a:r>
            <a:r>
              <a:rPr sz="1200" dirty="0">
                <a:solidFill>
                  <a:srgbClr val="FFFFFF"/>
                </a:solidFill>
                <a:latin typeface="Consolas"/>
              </a:rPr>
              <a:t>("A"))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E7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92739"/>
                </a:solidFill>
                <a:latin typeface="Aptos Display"/>
              </a:rPr>
              <a:t>9. Utility-Based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79944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646E78"/>
                </a:solidFill>
                <a:latin typeface="Aptos"/>
              </a:rPr>
              <a:t>Chooses the most desirable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74304"/>
            <a:ext cx="1069848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Uses a utility function to assign a numerical value to possible outcomes.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Can compare several successful choices, not just ask whether a goal is reached.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Useful when speed, cost, safety, quality or other preferences matter.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The selected action is the one with the highest expected utility.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67757"/>
            <a:ext cx="2129667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30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 dirty="0">
                <a:solidFill>
                  <a:srgbClr val="192739"/>
                </a:solidFill>
                <a:latin typeface="Aptos"/>
              </a:rPr>
              <a:t>Possible Actions</a:t>
            </a:r>
          </a:p>
        </p:txBody>
      </p:sp>
      <p:cxnSp>
        <p:nvCxnSpPr>
          <p:cNvPr id="7" name="Connector 6"/>
          <p:cNvCxnSpPr>
            <a:cxnSpLocks/>
            <a:stCxn id="6" idx="3"/>
            <a:endCxn id="8" idx="1"/>
          </p:cNvCxnSpPr>
          <p:nvPr/>
        </p:nvCxnSpPr>
        <p:spPr>
          <a:xfrm>
            <a:off x="2861187" y="4579237"/>
            <a:ext cx="662694" cy="0"/>
          </a:xfrm>
          <a:prstGeom prst="line">
            <a:avLst/>
          </a:prstGeom>
          <a:ln w="25400">
            <a:solidFill>
              <a:srgbClr val="E59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23881" y="4167757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30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 dirty="0">
                <a:solidFill>
                  <a:srgbClr val="192739"/>
                </a:solidFill>
                <a:latin typeface="Aptos"/>
              </a:rPr>
              <a:t>Outcomes</a:t>
            </a:r>
          </a:p>
        </p:txBody>
      </p:sp>
      <p:cxnSp>
        <p:nvCxnSpPr>
          <p:cNvPr id="9" name="Connector 8"/>
          <p:cNvCxnSpPr>
            <a:cxnSpLocks/>
            <a:stCxn id="8" idx="3"/>
            <a:endCxn id="10" idx="1"/>
          </p:cNvCxnSpPr>
          <p:nvPr/>
        </p:nvCxnSpPr>
        <p:spPr>
          <a:xfrm>
            <a:off x="5489841" y="4579237"/>
            <a:ext cx="606006" cy="0"/>
          </a:xfrm>
          <a:prstGeom prst="line">
            <a:avLst/>
          </a:prstGeom>
          <a:ln w="25400">
            <a:solidFill>
              <a:srgbClr val="E59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095847" y="4167757"/>
            <a:ext cx="2095254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30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 dirty="0">
                <a:solidFill>
                  <a:srgbClr val="192739"/>
                </a:solidFill>
                <a:latin typeface="Aptos"/>
              </a:rPr>
              <a:t>Utility Function</a:t>
            </a:r>
          </a:p>
        </p:txBody>
      </p:sp>
      <p:cxnSp>
        <p:nvCxnSpPr>
          <p:cNvPr id="11" name="Connector 10"/>
          <p:cNvCxnSpPr>
            <a:cxnSpLocks/>
            <a:stCxn id="10" idx="3"/>
            <a:endCxn id="12" idx="1"/>
          </p:cNvCxnSpPr>
          <p:nvPr/>
        </p:nvCxnSpPr>
        <p:spPr>
          <a:xfrm>
            <a:off x="8191101" y="4579237"/>
            <a:ext cx="606006" cy="0"/>
          </a:xfrm>
          <a:prstGeom prst="line">
            <a:avLst/>
          </a:prstGeom>
          <a:ln w="25400">
            <a:solidFill>
              <a:srgbClr val="E59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797107" y="4167757"/>
            <a:ext cx="1874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30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>
                <a:solidFill>
                  <a:srgbClr val="192739"/>
                </a:solidFill>
                <a:latin typeface="Aptos"/>
              </a:rPr>
              <a:t>Best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E7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0312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92739"/>
                </a:solidFill>
                <a:latin typeface="Aptos Display"/>
              </a:rPr>
              <a:t>10. Utility-Based Agent — Python</a:t>
            </a:r>
            <a:r>
              <a:rPr lang="en-IN" sz="2800" b="1" dirty="0">
                <a:solidFill>
                  <a:srgbClr val="192739"/>
                </a:solidFill>
                <a:latin typeface="Aptos Display"/>
              </a:rPr>
              <a:t> implementation:</a:t>
            </a:r>
            <a:endParaRPr sz="2800" b="1" dirty="0">
              <a:solidFill>
                <a:srgbClr val="192739"/>
              </a:solidFill>
              <a:latin typeface="Aptos Display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081548"/>
            <a:ext cx="10789920" cy="5364972"/>
          </a:xfrm>
          <a:prstGeom prst="roundRect">
            <a:avLst/>
          </a:prstGeom>
          <a:solidFill>
            <a:srgbClr val="1C2128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22323" y="1224877"/>
            <a:ext cx="4177747" cy="50783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FFFFFF"/>
                </a:solidFill>
                <a:latin typeface="Consolas"/>
              </a:rPr>
              <a:t>class </a:t>
            </a:r>
            <a:r>
              <a:rPr sz="1200" dirty="0" err="1">
                <a:solidFill>
                  <a:srgbClr val="FFFFFF"/>
                </a:solidFill>
                <a:latin typeface="Consolas"/>
              </a:rPr>
              <a:t>UtilityBasedAgent</a:t>
            </a:r>
            <a:r>
              <a:rPr sz="1200" dirty="0">
                <a:solidFill>
                  <a:srgbClr val="FFFFFF"/>
                </a:solidFill>
                <a:latin typeface="Consolas"/>
              </a:rPr>
              <a:t>:
    def __</a:t>
            </a:r>
            <a:r>
              <a:rPr sz="1200" dirty="0" err="1">
                <a:solidFill>
                  <a:srgbClr val="FFFFFF"/>
                </a:solidFill>
                <a:latin typeface="Consolas"/>
              </a:rPr>
              <a:t>init</a:t>
            </a:r>
            <a:r>
              <a:rPr sz="1200" dirty="0">
                <a:solidFill>
                  <a:srgbClr val="FFFFFF"/>
                </a:solidFill>
                <a:latin typeface="Consolas"/>
              </a:rPr>
              <a:t>__(self, routes):
        </a:t>
            </a:r>
            <a:r>
              <a:rPr sz="1200" dirty="0" err="1">
                <a:solidFill>
                  <a:srgbClr val="FFFFFF"/>
                </a:solidFill>
                <a:latin typeface="Consolas"/>
              </a:rPr>
              <a:t>self.routes</a:t>
            </a:r>
            <a:r>
              <a:rPr sz="1200" dirty="0">
                <a:solidFill>
                  <a:srgbClr val="FFFFFF"/>
                </a:solidFill>
                <a:latin typeface="Consolas"/>
              </a:rPr>
              <a:t> = routes
    def utility(self, route):
        return route["speed"] + route["cost"]
    def </a:t>
            </a:r>
            <a:r>
              <a:rPr sz="1200" dirty="0" err="1">
                <a:solidFill>
                  <a:srgbClr val="FFFFFF"/>
                </a:solidFill>
                <a:latin typeface="Consolas"/>
              </a:rPr>
              <a:t>choose_best_route</a:t>
            </a:r>
            <a:r>
              <a:rPr sz="1200" dirty="0">
                <a:solidFill>
                  <a:srgbClr val="FFFFFF"/>
                </a:solidFill>
                <a:latin typeface="Consolas"/>
              </a:rPr>
              <a:t>(self):
        best, highest = None, float("-inf")
        for name, route in </a:t>
            </a:r>
            <a:r>
              <a:rPr sz="1200" dirty="0" err="1">
                <a:solidFill>
                  <a:srgbClr val="FFFFFF"/>
                </a:solidFill>
                <a:latin typeface="Consolas"/>
              </a:rPr>
              <a:t>self.routes.items</a:t>
            </a:r>
            <a:r>
              <a:rPr sz="1200" dirty="0">
                <a:solidFill>
                  <a:srgbClr val="FFFFFF"/>
                </a:solidFill>
                <a:latin typeface="Consolas"/>
              </a:rPr>
              <a:t>():
            score = </a:t>
            </a:r>
            <a:r>
              <a:rPr sz="1200" dirty="0" err="1">
                <a:solidFill>
                  <a:srgbClr val="FFFFFF"/>
                </a:solidFill>
                <a:latin typeface="Consolas"/>
              </a:rPr>
              <a:t>self.utility</a:t>
            </a:r>
            <a:r>
              <a:rPr sz="1200" dirty="0">
                <a:solidFill>
                  <a:srgbClr val="FFFFFF"/>
                </a:solidFill>
                <a:latin typeface="Consolas"/>
              </a:rPr>
              <a:t>(route)
            print(name, "-&gt;", score)
            if score &gt; highest:
                best, highest = name, score
        return best, highest
routes = {
    "Route A": {"speed":80, "cost":30},
    "Route B": {"speed":50, "cost":70},
    "Route C": {"speed":90, "cost":80}
}
agent = </a:t>
            </a:r>
            <a:r>
              <a:rPr sz="1200" dirty="0" err="1">
                <a:solidFill>
                  <a:srgbClr val="FFFFFF"/>
                </a:solidFill>
                <a:latin typeface="Consolas"/>
              </a:rPr>
              <a:t>UtilityBasedAgent</a:t>
            </a:r>
            <a:r>
              <a:rPr sz="1200" dirty="0">
                <a:solidFill>
                  <a:srgbClr val="FFFFFF"/>
                </a:solidFill>
                <a:latin typeface="Consolas"/>
              </a:rPr>
              <a:t>(routes)
print(</a:t>
            </a:r>
            <a:r>
              <a:rPr sz="1200" dirty="0" err="1">
                <a:solidFill>
                  <a:srgbClr val="FFFFFF"/>
                </a:solidFill>
                <a:latin typeface="Consolas"/>
              </a:rPr>
              <a:t>agent.choose_best_route</a:t>
            </a:r>
            <a:r>
              <a:rPr sz="1200" dirty="0">
                <a:solidFill>
                  <a:srgbClr val="FFFFFF"/>
                </a:solidFill>
                <a:latin typeface="Consolas"/>
              </a:rPr>
              <a:t>())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E7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5976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92739"/>
                </a:solidFill>
                <a:latin typeface="Aptos Display"/>
              </a:rPr>
              <a:t>11. Simple Reflex vs Model-Based</a:t>
            </a:r>
            <a:r>
              <a:rPr lang="en-IN" sz="2800" b="1" dirty="0">
                <a:solidFill>
                  <a:srgbClr val="192739"/>
                </a:solidFill>
                <a:latin typeface="Aptos Display"/>
              </a:rPr>
              <a:t>:</a:t>
            </a:r>
            <a:endParaRPr sz="2800" b="1" dirty="0">
              <a:solidFill>
                <a:srgbClr val="192739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Simple Reflex: current percept → rule → action.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Model-Based: current percept + internal state → updated model → action.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Simple Reflex cannot remember that a previous room was dirty.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Model-Based can store that information and use it later.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Memory makes the model-based agent more capable in partially observable environments.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51960"/>
            <a:ext cx="2141466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30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>
                <a:solidFill>
                  <a:srgbClr val="192739"/>
                </a:solidFill>
                <a:latin typeface="Aptos"/>
              </a:rPr>
              <a:t>Simple Reflex</a:t>
            </a:r>
          </a:p>
        </p:txBody>
      </p:sp>
      <p:cxnSp>
        <p:nvCxnSpPr>
          <p:cNvPr id="6" name="Connector 5"/>
          <p:cNvCxnSpPr>
            <a:cxnSpLocks/>
            <a:stCxn id="5" idx="3"/>
            <a:endCxn id="7" idx="1"/>
          </p:cNvCxnSpPr>
          <p:nvPr/>
        </p:nvCxnSpPr>
        <p:spPr>
          <a:xfrm>
            <a:off x="2872986" y="4663440"/>
            <a:ext cx="451256" cy="0"/>
          </a:xfrm>
          <a:prstGeom prst="line">
            <a:avLst/>
          </a:prstGeom>
          <a:ln w="25400">
            <a:solidFill>
              <a:srgbClr val="E59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324242" y="4251960"/>
            <a:ext cx="2191611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30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 dirty="0">
                <a:solidFill>
                  <a:srgbClr val="192739"/>
                </a:solidFill>
                <a:latin typeface="Aptos"/>
              </a:rPr>
              <a:t>Current Percept
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66119" y="4282932"/>
            <a:ext cx="190745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30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>
                <a:solidFill>
                  <a:srgbClr val="192739"/>
                </a:solidFill>
                <a:latin typeface="Aptos"/>
              </a:rPr>
              <a:t>Model-Based</a:t>
            </a:r>
          </a:p>
        </p:txBody>
      </p:sp>
      <p:cxnSp>
        <p:nvCxnSpPr>
          <p:cNvPr id="9" name="Connector 8"/>
          <p:cNvCxnSpPr>
            <a:cxnSpLocks/>
            <a:stCxn id="8" idx="3"/>
            <a:endCxn id="10" idx="1"/>
          </p:cNvCxnSpPr>
          <p:nvPr/>
        </p:nvCxnSpPr>
        <p:spPr>
          <a:xfrm>
            <a:off x="8273577" y="4694412"/>
            <a:ext cx="528335" cy="0"/>
          </a:xfrm>
          <a:prstGeom prst="line">
            <a:avLst/>
          </a:prstGeom>
          <a:ln w="25400">
            <a:solidFill>
              <a:srgbClr val="E59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801912" y="4282932"/>
            <a:ext cx="1907458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30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>
                <a:solidFill>
                  <a:srgbClr val="192739"/>
                </a:solidFill>
                <a:latin typeface="Aptos"/>
              </a:rPr>
              <a:t>Percept +
Internal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E78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62045"/>
            <a:ext cx="511575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92739"/>
                </a:solidFill>
                <a:latin typeface="Aptos Display"/>
              </a:rPr>
              <a:t>12. Goal-Based vs Utility-Based</a:t>
            </a:r>
            <a:r>
              <a:rPr lang="en-IN" sz="2800" b="1" dirty="0">
                <a:solidFill>
                  <a:srgbClr val="192739"/>
                </a:solidFill>
                <a:latin typeface="Aptos Display"/>
              </a:rPr>
              <a:t>:</a:t>
            </a:r>
            <a:endParaRPr sz="2800" b="1" dirty="0">
              <a:solidFill>
                <a:srgbClr val="192739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447309"/>
            <a:ext cx="941537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Goal-Based: asks, “Will this action help me reach the goal?”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Utility-Based: asks, “Which outcome is best according to my preferences?”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Goal-based reasoning may treat several successful paths as equally acceptable.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Utility-based reasoning can prefer one successful path because it is faster, cheaper or safer.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32B34"/>
                </a:solidFill>
                <a:latin typeface="Aptos"/>
              </a:defRPr>
            </a:pPr>
            <a:r>
              <a:rPr dirty="0"/>
              <a:t>Utility therefore supports decision-making under trade-offs.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E78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739"/>
                </a:solidFill>
                <a:latin typeface="Aptos Display"/>
              </a:rPr>
              <a:t>13. Easy Real-World Analogy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834640" cy="731520"/>
          </a:xfrm>
          <a:prstGeom prst="roundRect">
            <a:avLst/>
          </a:prstGeom>
          <a:solidFill>
            <a:srgbClr val="19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Simple Reflex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554480"/>
            <a:ext cx="7406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32B34"/>
                </a:solidFill>
              </a:rPr>
              <a:t>“It is raining → take an umbrella.”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2834640" cy="731520"/>
          </a:xfrm>
          <a:prstGeom prst="roundRect">
            <a:avLst/>
          </a:prstGeom>
          <a:solidFill>
            <a:srgbClr val="19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Model-Based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651760"/>
            <a:ext cx="7406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>
                <a:solidFill>
                  <a:srgbClr val="232B34"/>
                </a:solidFill>
              </a:rPr>
              <a:t>“I remember this road was blocked yesterday.”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2834640" cy="731520"/>
          </a:xfrm>
          <a:prstGeom prst="roundRect">
            <a:avLst/>
          </a:prstGeom>
          <a:solidFill>
            <a:srgbClr val="19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Goal-Based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794760"/>
            <a:ext cx="7406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>
                <a:solidFill>
                  <a:srgbClr val="232B34"/>
                </a:solidFill>
              </a:rPr>
              <a:t>“I need to reach college → find a route.”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2834640" cy="731520"/>
          </a:xfrm>
          <a:prstGeom prst="roundRect">
            <a:avLst/>
          </a:prstGeom>
          <a:solidFill>
            <a:srgbClr val="19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Utility-Based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937760"/>
            <a:ext cx="7406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>
                <a:solidFill>
                  <a:srgbClr val="232B34"/>
                </a:solidFill>
              </a:rPr>
              <a:t>“Choose the route that balances time, cost and safety.”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E78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14.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201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FFFFFF"/>
                </a:solidFill>
                <a:latin typeface="Aptos"/>
              </a:rPr>
              <a:t>The progression from rules to intelligent decision-making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6607" y="1783080"/>
            <a:ext cx="10698480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FFFFFF"/>
                </a:solidFill>
                <a:latin typeface="Aptos"/>
              </a:defRPr>
            </a:pPr>
            <a:r>
              <a:rPr dirty="0"/>
              <a:t>Simple Reflex → reacts to the current situation.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FFFFFF"/>
                </a:solidFill>
                <a:latin typeface="Aptos"/>
              </a:defRPr>
            </a:pPr>
            <a:r>
              <a:rPr dirty="0"/>
              <a:t>Model-Based → adds memory and an internal model.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FFFFFF"/>
                </a:solidFill>
                <a:latin typeface="Aptos"/>
              </a:defRPr>
            </a:pPr>
            <a:r>
              <a:rPr dirty="0"/>
              <a:t>Goal-Based → plans actions to reach a desired goal.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FFFFFF"/>
                </a:solidFill>
                <a:latin typeface="Aptos"/>
              </a:defRPr>
            </a:pPr>
            <a:r>
              <a:rPr dirty="0"/>
              <a:t>Utility-Based → compares outcomes and chooses the most beneficial one.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FFFFFF"/>
                </a:solidFill>
                <a:latin typeface="Aptos"/>
              </a:defRPr>
            </a:pPr>
            <a:r>
              <a:rPr dirty="0"/>
              <a:t>Overall progression: Current Percept → Memory → Goal → Utility.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FFFFFF"/>
                </a:solidFill>
                <a:latin typeface="Aptos"/>
              </a:defRPr>
            </a:pPr>
            <a:r>
              <a:rPr dirty="0"/>
              <a:t>These concepts form a foundation for understanding planning, search and intelligent decision-making in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E78"/>
                </a:solidFill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1309</Words>
  <Application>Microsoft Office PowerPoint</Application>
  <PresentationFormat>Widescreen</PresentationFormat>
  <Paragraphs>137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XYRONNN ‎</dc:creator>
  <cp:keywords/>
  <dc:description>generated using python-pptx</dc:description>
  <cp:lastModifiedBy>XYRONNN ‎</cp:lastModifiedBy>
  <cp:revision>2</cp:revision>
  <dcterms:created xsi:type="dcterms:W3CDTF">2013-01-27T09:14:16Z</dcterms:created>
  <dcterms:modified xsi:type="dcterms:W3CDTF">2026-08-01T03:31:27Z</dcterms:modified>
  <cp:category/>
</cp:coreProperties>
</file>